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76" r:id="rId2"/>
    <p:sldId id="275" r:id="rId3"/>
    <p:sldId id="273" r:id="rId4"/>
    <p:sldId id="256" r:id="rId5"/>
    <p:sldId id="257" r:id="rId6"/>
    <p:sldId id="258" r:id="rId7"/>
    <p:sldId id="259" r:id="rId8"/>
    <p:sldId id="260" r:id="rId9"/>
    <p:sldId id="261" r:id="rId10"/>
    <p:sldId id="262" r:id="rId11"/>
    <p:sldId id="263" r:id="rId12"/>
    <p:sldId id="264" r:id="rId13"/>
    <p:sldId id="265" r:id="rId14"/>
    <p:sldId id="267" r:id="rId15"/>
    <p:sldId id="268" r:id="rId16"/>
    <p:sldId id="270" r:id="rId17"/>
    <p:sldId id="269" r:id="rId18"/>
    <p:sldId id="271" r:id="rId19"/>
    <p:sldId id="27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DF7FF"/>
    <a:srgbClr val="C600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8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2016/7/18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2016/7/18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2016/7/18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qcloud.com/solution/game.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hyperlink" Target="https://www.qcloud.com/solution/game.html" TargetMode="Externa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2.jpeg"/><Relationship Id="rId5" Type="http://schemas.openxmlformats.org/officeDocument/2006/relationships/image" Target="../media/image8.wmf"/><Relationship Id="rId10" Type="http://schemas.openxmlformats.org/officeDocument/2006/relationships/hyperlink" Target="http://www.rrs.com/wl/jjfa/hyjjfaxx/1" TargetMode="External"/><Relationship Id="rId4" Type="http://schemas.openxmlformats.org/officeDocument/2006/relationships/oleObject" Target="../embeddings/oleObject5.bin"/><Relationship Id="rId9"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6.png"/><Relationship Id="rId5" Type="http://schemas.openxmlformats.org/officeDocument/2006/relationships/image" Target="../media/image8.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8.w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8.w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2980" y="3194050"/>
            <a:ext cx="10515600" cy="1325563"/>
          </a:xfrm>
        </p:spPr>
        <p:txBody>
          <a:bodyPr/>
          <a:lstStyle/>
          <a:p>
            <a:pPr algn="ctr"/>
            <a:r>
              <a:rPr lang="zh-CN" altLang="en-US" sz="4800" b="1" dirty="0"/>
              <a:t>设计流程概述</a:t>
            </a:r>
          </a:p>
        </p:txBody>
      </p:sp>
    </p:spTree>
    <p:extLst>
      <p:ext uri="{BB962C8B-B14F-4D97-AF65-F5344CB8AC3E}">
        <p14:creationId xmlns:p14="http://schemas.microsoft.com/office/powerpoint/2010/main" val="3992600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728209" y="-39004"/>
            <a:ext cx="7686010" cy="7118367"/>
          </a:xfrm>
          <a:prstGeom prst="rect">
            <a:avLst/>
          </a:prstGeom>
        </p:spPr>
      </p:pic>
      <p:sp>
        <p:nvSpPr>
          <p:cNvPr id="5" name="文本框 4"/>
          <p:cNvSpPr txBox="1"/>
          <p:nvPr/>
        </p:nvSpPr>
        <p:spPr>
          <a:xfrm>
            <a:off x="404734" y="419725"/>
            <a:ext cx="1957587" cy="523220"/>
          </a:xfrm>
          <a:prstGeom prst="rect">
            <a:avLst/>
          </a:prstGeom>
          <a:solidFill>
            <a:schemeClr val="accent2"/>
          </a:solidFill>
        </p:spPr>
        <p:txBody>
          <a:bodyPr wrap="none" rtlCol="0">
            <a:spAutoFit/>
          </a:bodyPr>
          <a:lstStyle/>
          <a:p>
            <a:r>
              <a:rPr lang="en-US" altLang="zh-CN" sz="2800" b="1" dirty="0">
                <a:solidFill>
                  <a:schemeClr val="bg1"/>
                </a:solidFill>
              </a:rPr>
              <a:t>UI</a:t>
            </a:r>
            <a:r>
              <a:rPr lang="zh-CN" altLang="en-US" sz="2800" b="1" dirty="0">
                <a:solidFill>
                  <a:schemeClr val="bg1"/>
                </a:solidFill>
              </a:rPr>
              <a:t>设计流程</a:t>
            </a:r>
          </a:p>
        </p:txBody>
      </p:sp>
    </p:spTree>
    <p:extLst>
      <p:ext uri="{BB962C8B-B14F-4D97-AF65-F5344CB8AC3E}">
        <p14:creationId xmlns:p14="http://schemas.microsoft.com/office/powerpoint/2010/main" val="4051442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2980" y="3194050"/>
            <a:ext cx="10515600" cy="1325563"/>
          </a:xfrm>
        </p:spPr>
        <p:txBody>
          <a:bodyPr/>
          <a:lstStyle/>
          <a:p>
            <a:pPr algn="ctr"/>
            <a:r>
              <a:rPr lang="zh-CN" altLang="en-US" sz="4800" b="1" dirty="0"/>
              <a:t>以下是平台能力构思</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4036060" y="1714500"/>
            <a:ext cx="0" cy="1785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661275" y="1687830"/>
            <a:ext cx="0" cy="1786255"/>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753870" y="1286510"/>
            <a:ext cx="1325880" cy="365760"/>
          </a:xfrm>
          <a:prstGeom prst="rect">
            <a:avLst/>
          </a:prstGeom>
          <a:noFill/>
        </p:spPr>
        <p:txBody>
          <a:bodyPr wrap="none" rtlCol="0">
            <a:spAutoFit/>
          </a:bodyPr>
          <a:lstStyle/>
          <a:p>
            <a:r>
              <a:rPr lang="zh-CN" altLang="en-US">
                <a:solidFill>
                  <a:srgbClr val="FF0000"/>
                </a:solidFill>
                <a:effectLst>
                  <a:glow rad="101600">
                    <a:schemeClr val="accent5">
                      <a:satMod val="175000"/>
                      <a:alpha val="40000"/>
                    </a:schemeClr>
                  </a:glow>
                  <a:innerShdw blurRad="63500" dist="50800" dir="18900000">
                    <a:prstClr val="black">
                      <a:alpha val="50000"/>
                    </a:prstClr>
                  </a:innerShdw>
                </a:effectLst>
              </a:rPr>
              <a:t>全区域覆盖</a:t>
            </a:r>
          </a:p>
        </p:txBody>
      </p:sp>
      <p:sp>
        <p:nvSpPr>
          <p:cNvPr id="9" name="文本框 8"/>
          <p:cNvSpPr txBox="1"/>
          <p:nvPr/>
        </p:nvSpPr>
        <p:spPr>
          <a:xfrm>
            <a:off x="8951595" y="1286510"/>
            <a:ext cx="1097280" cy="365760"/>
          </a:xfrm>
          <a:prstGeom prst="rect">
            <a:avLst/>
          </a:prstGeom>
          <a:noFill/>
        </p:spPr>
        <p:txBody>
          <a:bodyPr wrap="none" rtlCol="0">
            <a:spAutoFit/>
          </a:bodyPr>
          <a:lstStyle/>
          <a:p>
            <a:r>
              <a:rPr lang="zh-CN" altLang="en-US">
                <a:solidFill>
                  <a:srgbClr val="FF0000"/>
                </a:solidFill>
                <a:effectLst>
                  <a:glow rad="101600">
                    <a:schemeClr val="accent5">
                      <a:satMod val="175000"/>
                      <a:alpha val="40000"/>
                    </a:schemeClr>
                  </a:glow>
                  <a:innerShdw blurRad="63500" dist="50800" dir="18900000">
                    <a:prstClr val="black">
                      <a:alpha val="50000"/>
                    </a:prstClr>
                  </a:innerShdw>
                </a:effectLst>
              </a:rPr>
              <a:t>极速送装</a:t>
            </a:r>
          </a:p>
        </p:txBody>
      </p:sp>
      <p:sp>
        <p:nvSpPr>
          <p:cNvPr id="10" name="文本框 9"/>
          <p:cNvSpPr txBox="1"/>
          <p:nvPr/>
        </p:nvSpPr>
        <p:spPr>
          <a:xfrm>
            <a:off x="5146675" y="1286510"/>
            <a:ext cx="1325880" cy="365760"/>
          </a:xfrm>
          <a:prstGeom prst="rect">
            <a:avLst/>
          </a:prstGeom>
          <a:noFill/>
        </p:spPr>
        <p:txBody>
          <a:bodyPr wrap="none" rtlCol="0">
            <a:spAutoFit/>
          </a:bodyPr>
          <a:lstStyle/>
          <a:p>
            <a:r>
              <a:rPr lang="zh-CN" altLang="en-US">
                <a:solidFill>
                  <a:srgbClr val="FF0000"/>
                </a:solidFill>
                <a:effectLst>
                  <a:glow rad="101600">
                    <a:schemeClr val="accent5">
                      <a:satMod val="175000"/>
                      <a:alpha val="40000"/>
                    </a:schemeClr>
                  </a:glow>
                  <a:innerShdw blurRad="63500" dist="50800" dir="18900000">
                    <a:prstClr val="black">
                      <a:alpha val="50000"/>
                    </a:prstClr>
                  </a:innerShdw>
                </a:effectLst>
              </a:rPr>
              <a:t>大数据分析</a:t>
            </a:r>
          </a:p>
        </p:txBody>
      </p:sp>
      <p:sp>
        <p:nvSpPr>
          <p:cNvPr id="12" name="矩形 11"/>
          <p:cNvSpPr/>
          <p:nvPr/>
        </p:nvSpPr>
        <p:spPr>
          <a:xfrm>
            <a:off x="1471930" y="2064385"/>
            <a:ext cx="2080895" cy="159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全国送装服务无盲区，全国配送零盲区覆盖，深度上可实现到村、入户</a:t>
            </a:r>
          </a:p>
        </p:txBody>
      </p:sp>
      <p:sp>
        <p:nvSpPr>
          <p:cNvPr id="13" name="矩形 12"/>
          <p:cNvSpPr/>
          <p:nvPr/>
        </p:nvSpPr>
        <p:spPr>
          <a:xfrm>
            <a:off x="4768850" y="2064385"/>
            <a:ext cx="2080895" cy="159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开放的智慧物流平台，实现自动接单、订单管理、自动装载、计费分析、成本核算、大数据智能分析等。</a:t>
            </a:r>
          </a:p>
        </p:txBody>
      </p:sp>
      <p:sp>
        <p:nvSpPr>
          <p:cNvPr id="14" name="矩形 13"/>
          <p:cNvSpPr/>
          <p:nvPr/>
        </p:nvSpPr>
        <p:spPr>
          <a:xfrm>
            <a:off x="8623935" y="2064385"/>
            <a:ext cx="2080895" cy="159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全国城市间直驳、市区内短驳的运输，实现全天24H“门到门”、“仓对仓”服务</a:t>
            </a:r>
          </a:p>
        </p:txBody>
      </p:sp>
      <p:graphicFrame>
        <p:nvGraphicFramePr>
          <p:cNvPr id="15" name="表格 14"/>
          <p:cNvGraphicFramePr/>
          <p:nvPr/>
        </p:nvGraphicFramePr>
        <p:xfrm>
          <a:off x="1471930" y="3876040"/>
          <a:ext cx="9277985" cy="1828800"/>
        </p:xfrm>
        <a:graphic>
          <a:graphicData uri="http://schemas.openxmlformats.org/drawingml/2006/table">
            <a:tbl>
              <a:tblPr firstRow="1" bandRow="1">
                <a:tableStyleId>{5C22544A-7EE6-4342-B048-85BDC9FD1C3A}</a:tableStyleId>
              </a:tblPr>
              <a:tblGrid>
                <a:gridCol w="1546225">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1546225">
                  <a:extLst>
                    <a:ext uri="{9D8B030D-6E8A-4147-A177-3AD203B41FA5}">
                      <a16:colId xmlns:a16="http://schemas.microsoft.com/office/drawing/2014/main" val="20002"/>
                    </a:ext>
                  </a:extLst>
                </a:gridCol>
                <a:gridCol w="1545590">
                  <a:extLst>
                    <a:ext uri="{9D8B030D-6E8A-4147-A177-3AD203B41FA5}">
                      <a16:colId xmlns:a16="http://schemas.microsoft.com/office/drawing/2014/main" val="20003"/>
                    </a:ext>
                  </a:extLst>
                </a:gridCol>
                <a:gridCol w="1546860">
                  <a:extLst>
                    <a:ext uri="{9D8B030D-6E8A-4147-A177-3AD203B41FA5}">
                      <a16:colId xmlns:a16="http://schemas.microsoft.com/office/drawing/2014/main" val="20004"/>
                    </a:ext>
                  </a:extLst>
                </a:gridCol>
                <a:gridCol w="1546225">
                  <a:extLst>
                    <a:ext uri="{9D8B030D-6E8A-4147-A177-3AD203B41FA5}">
                      <a16:colId xmlns:a16="http://schemas.microsoft.com/office/drawing/2014/main" val="20005"/>
                    </a:ext>
                  </a:extLst>
                </a:gridCol>
              </a:tblGrid>
              <a:tr h="914400">
                <a:tc>
                  <a:txBody>
                    <a:bodyPr/>
                    <a:lstStyle/>
                    <a:p>
                      <a:pPr>
                        <a:buNone/>
                      </a:pPr>
                      <a:r>
                        <a:rPr lang="zh-CN" altLang="en-US"/>
                        <a:t>98TC全区域配送</a:t>
                      </a:r>
                    </a:p>
                  </a:txBody>
                  <a:tcPr>
                    <a:solidFill>
                      <a:schemeClr val="accent4">
                        <a:lumMod val="40000"/>
                        <a:lumOff val="60000"/>
                      </a:schemeClr>
                    </a:solidFill>
                  </a:tcPr>
                </a:tc>
                <a:tc>
                  <a:txBody>
                    <a:bodyPr/>
                    <a:lstStyle/>
                    <a:p>
                      <a:pPr>
                        <a:buNone/>
                      </a:pPr>
                      <a:r>
                        <a:rPr lang="zh-CN" altLang="en-US"/>
                        <a:t>14大基地配送</a:t>
                      </a:r>
                    </a:p>
                  </a:txBody>
                  <a:tcPr>
                    <a:solidFill>
                      <a:schemeClr val="accent5">
                        <a:lumMod val="40000"/>
                        <a:lumOff val="60000"/>
                      </a:schemeClr>
                    </a:solidFill>
                  </a:tcPr>
                </a:tc>
                <a:tc>
                  <a:txBody>
                    <a:bodyPr/>
                    <a:lstStyle/>
                    <a:p>
                      <a:pPr>
                        <a:buNone/>
                      </a:pPr>
                      <a:r>
                        <a:rPr lang="zh-CN" altLang="en-US"/>
                        <a:t>56个二级区配中心</a:t>
                      </a:r>
                    </a:p>
                  </a:txBody>
                  <a:tcPr>
                    <a:solidFill>
                      <a:schemeClr val="accent6">
                        <a:lumMod val="40000"/>
                        <a:lumOff val="60000"/>
                      </a:schemeClr>
                    </a:solidFill>
                  </a:tcPr>
                </a:tc>
                <a:tc>
                  <a:txBody>
                    <a:bodyPr/>
                    <a:lstStyle/>
                    <a:p>
                      <a:pPr>
                        <a:buNone/>
                      </a:pPr>
                      <a:r>
                        <a:rPr lang="zh-CN" altLang="en-US"/>
                        <a:t>覆盖全国2800多个区县</a:t>
                      </a:r>
                    </a:p>
                  </a:txBody>
                  <a:tcPr>
                    <a:solidFill>
                      <a:schemeClr val="accent2">
                        <a:lumMod val="40000"/>
                        <a:lumOff val="60000"/>
                      </a:schemeClr>
                    </a:solidFill>
                  </a:tcPr>
                </a:tc>
                <a:tc>
                  <a:txBody>
                    <a:bodyPr/>
                    <a:lstStyle/>
                    <a:p>
                      <a:pPr>
                        <a:buNone/>
                      </a:pPr>
                      <a:r>
                        <a:rPr lang="zh-CN" altLang="en-US"/>
                        <a:t>42个船公司</a:t>
                      </a:r>
                    </a:p>
                  </a:txBody>
                  <a:tcPr>
                    <a:solidFill>
                      <a:schemeClr val="accent1">
                        <a:lumMod val="40000"/>
                        <a:lumOff val="60000"/>
                      </a:schemeClr>
                    </a:solidFill>
                  </a:tcPr>
                </a:tc>
                <a:tc>
                  <a:txBody>
                    <a:bodyPr/>
                    <a:lstStyle/>
                    <a:p>
                      <a:pPr>
                        <a:buNone/>
                      </a:pPr>
                      <a:r>
                        <a:rPr lang="zh-CN" altLang="en-US"/>
                        <a:t>500Kg以上大票零担</a:t>
                      </a:r>
                    </a:p>
                  </a:txBody>
                  <a:tcPr>
                    <a:solidFill>
                      <a:schemeClr val="tx2">
                        <a:lumMod val="40000"/>
                        <a:lumOff val="60000"/>
                      </a:schemeClr>
                    </a:solidFill>
                  </a:tcPr>
                </a:tc>
                <a:extLst>
                  <a:ext uri="{0D108BD9-81ED-4DB2-BD59-A6C34878D82A}">
                    <a16:rowId xmlns:a16="http://schemas.microsoft.com/office/drawing/2014/main" val="10000"/>
                  </a:ext>
                </a:extLst>
              </a:tr>
              <a:tr h="414020">
                <a:tc>
                  <a:txBody>
                    <a:bodyPr/>
                    <a:lstStyle/>
                    <a:p>
                      <a:pPr algn="l">
                        <a:buNone/>
                      </a:pPr>
                      <a:r>
                        <a:rPr lang="zh-CN" altLang="en-US" b="1">
                          <a:solidFill>
                            <a:schemeClr val="lt1"/>
                          </a:solidFill>
                        </a:rPr>
                        <a:t>1000个HUB站点</a:t>
                      </a:r>
                    </a:p>
                  </a:txBody>
                  <a:tcPr/>
                </a:tc>
                <a:tc>
                  <a:txBody>
                    <a:bodyPr/>
                    <a:lstStyle/>
                    <a:p>
                      <a:pPr>
                        <a:buNone/>
                      </a:pPr>
                      <a:r>
                        <a:rPr lang="zh-CN" altLang="en-US"/>
                        <a:t>42个一级区配中心</a:t>
                      </a:r>
                    </a:p>
                  </a:txBody>
                  <a:tcPr/>
                </a:tc>
                <a:tc>
                  <a:txBody>
                    <a:bodyPr/>
                    <a:lstStyle/>
                    <a:p>
                      <a:pPr>
                        <a:buNone/>
                      </a:pPr>
                      <a:r>
                        <a:rPr lang="zh-CN" altLang="en-US"/>
                        <a:t>500万平方米面积储备</a:t>
                      </a:r>
                    </a:p>
                  </a:txBody>
                  <a:tcPr/>
                </a:tc>
                <a:tc>
                  <a:txBody>
                    <a:bodyPr/>
                    <a:lstStyle/>
                    <a:p>
                      <a:pPr>
                        <a:buNone/>
                      </a:pPr>
                      <a:r>
                        <a:rPr lang="zh-CN" altLang="en-US"/>
                        <a:t>全国6000多个网点</a:t>
                      </a:r>
                    </a:p>
                  </a:txBody>
                  <a:tcPr/>
                </a:tc>
                <a:tc>
                  <a:txBody>
                    <a:bodyPr/>
                    <a:lstStyle/>
                    <a:p>
                      <a:pPr>
                        <a:buNone/>
                      </a:pPr>
                      <a:r>
                        <a:rPr lang="zh-CN" altLang="en-US"/>
                        <a:t>日处理数据量</a:t>
                      </a:r>
                      <a:r>
                        <a:rPr lang="en-US" altLang="zh-CN"/>
                        <a:t>5</a:t>
                      </a:r>
                      <a:r>
                        <a:rPr lang="zh-CN" altLang="en-US"/>
                        <a:t>万亿条</a:t>
                      </a:r>
                    </a:p>
                  </a:txBody>
                  <a:tcPr/>
                </a:tc>
                <a:tc>
                  <a:txBody>
                    <a:bodyPr/>
                    <a:lstStyle/>
                    <a:p>
                      <a:pPr>
                        <a:buNone/>
                      </a:pPr>
                      <a:r>
                        <a:rPr lang="zh-CN" altLang="en-US"/>
                        <a:t>快递员数量</a:t>
                      </a:r>
                      <a:r>
                        <a:rPr lang="en-US" altLang="zh-CN"/>
                        <a:t>3</a:t>
                      </a:r>
                      <a:r>
                        <a:rPr lang="zh-CN" altLang="en-US"/>
                        <a:t>万人</a:t>
                      </a:r>
                    </a:p>
                    <a:p>
                      <a:pPr>
                        <a:buNone/>
                      </a:pPr>
                      <a:endParaRPr lang="zh-CN" altLang="en-US"/>
                    </a:p>
                  </a:txBody>
                  <a:tcPr/>
                </a:tc>
                <a:extLst>
                  <a:ext uri="{0D108BD9-81ED-4DB2-BD59-A6C34878D82A}">
                    <a16:rowId xmlns:a16="http://schemas.microsoft.com/office/drawing/2014/main" val="10001"/>
                  </a:ext>
                </a:extLst>
              </a:tr>
            </a:tbl>
          </a:graphicData>
        </a:graphic>
      </p:graphicFrame>
      <p:sp>
        <p:nvSpPr>
          <p:cNvPr id="17" name="圆角矩形 16"/>
          <p:cNvSpPr/>
          <p:nvPr/>
        </p:nvSpPr>
        <p:spPr>
          <a:xfrm>
            <a:off x="3281680" y="347980"/>
            <a:ext cx="5669915" cy="551815"/>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t>平台能力介绍</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流程图: 合并 7"/>
          <p:cNvSpPr/>
          <p:nvPr/>
        </p:nvSpPr>
        <p:spPr>
          <a:xfrm>
            <a:off x="1420495" y="1769745"/>
            <a:ext cx="238125" cy="180975"/>
          </a:xfrm>
          <a:prstGeom prst="flowChartMerge">
            <a:avLst/>
          </a:prstGeom>
          <a:solidFill>
            <a:srgbClr val="C6003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p:nvPr/>
        </p:nvGraphicFramePr>
        <p:xfrm>
          <a:off x="948690" y="1399540"/>
          <a:ext cx="4660265" cy="447675"/>
        </p:xfrm>
        <a:graphic>
          <a:graphicData uri="http://schemas.openxmlformats.org/drawingml/2006/table">
            <a:tbl>
              <a:tblPr firstRow="1" bandRow="1">
                <a:tableStyleId>{5C22544A-7EE6-4342-B048-85BDC9FD1C3A}</a:tableStyleId>
              </a:tblPr>
              <a:tblGrid>
                <a:gridCol w="1165860">
                  <a:extLst>
                    <a:ext uri="{9D8B030D-6E8A-4147-A177-3AD203B41FA5}">
                      <a16:colId xmlns:a16="http://schemas.microsoft.com/office/drawing/2014/main" val="20000"/>
                    </a:ext>
                  </a:extLst>
                </a:gridCol>
                <a:gridCol w="1164590">
                  <a:extLst>
                    <a:ext uri="{9D8B030D-6E8A-4147-A177-3AD203B41FA5}">
                      <a16:colId xmlns:a16="http://schemas.microsoft.com/office/drawing/2014/main" val="20001"/>
                    </a:ext>
                  </a:extLst>
                </a:gridCol>
                <a:gridCol w="1163955">
                  <a:extLst>
                    <a:ext uri="{9D8B030D-6E8A-4147-A177-3AD203B41FA5}">
                      <a16:colId xmlns:a16="http://schemas.microsoft.com/office/drawing/2014/main" val="20002"/>
                    </a:ext>
                  </a:extLst>
                </a:gridCol>
                <a:gridCol w="1165860">
                  <a:extLst>
                    <a:ext uri="{9D8B030D-6E8A-4147-A177-3AD203B41FA5}">
                      <a16:colId xmlns:a16="http://schemas.microsoft.com/office/drawing/2014/main" val="20003"/>
                    </a:ext>
                  </a:extLst>
                </a:gridCol>
              </a:tblGrid>
              <a:tr h="447675">
                <a:tc>
                  <a:txBody>
                    <a:bodyPr/>
                    <a:lstStyle/>
                    <a:p>
                      <a:pPr algn="ctr">
                        <a:lnSpc>
                          <a:spcPct val="150000"/>
                        </a:lnSpc>
                        <a:buNone/>
                      </a:pPr>
                      <a:r>
                        <a:rPr lang="zh-CN" altLang="en-US" sz="1200"/>
                        <a:t>干线平台</a:t>
                      </a:r>
                    </a:p>
                  </a:txBody>
                  <a:tcPr>
                    <a:solidFill>
                      <a:srgbClr val="C6003A"/>
                    </a:solidFill>
                  </a:tcPr>
                </a:tc>
                <a:tc>
                  <a:txBody>
                    <a:bodyPr/>
                    <a:lstStyle/>
                    <a:p>
                      <a:pPr algn="ctr">
                        <a:lnSpc>
                          <a:spcPct val="150000"/>
                        </a:lnSpc>
                        <a:buNone/>
                      </a:pPr>
                      <a:r>
                        <a:rPr lang="zh-CN" altLang="en-US" sz="1200">
                          <a:solidFill>
                            <a:schemeClr val="tx1"/>
                          </a:solidFill>
                        </a:rPr>
                        <a:t>区域配送平台</a:t>
                      </a:r>
                    </a:p>
                  </a:txBody>
                  <a:tcPr>
                    <a:solidFill>
                      <a:schemeClr val="bg1">
                        <a:lumMod val="75000"/>
                      </a:schemeClr>
                    </a:solidFill>
                  </a:tcPr>
                </a:tc>
                <a:tc>
                  <a:txBody>
                    <a:bodyPr/>
                    <a:lstStyle/>
                    <a:p>
                      <a:pPr algn="ctr">
                        <a:lnSpc>
                          <a:spcPct val="150000"/>
                        </a:lnSpc>
                        <a:buNone/>
                      </a:pPr>
                      <a:r>
                        <a:rPr lang="zh-CN" altLang="en-US" sz="1200">
                          <a:solidFill>
                            <a:schemeClr val="tx1"/>
                          </a:solidFill>
                        </a:rPr>
                        <a:t>仓储平台</a:t>
                      </a:r>
                    </a:p>
                  </a:txBody>
                  <a:tcPr>
                    <a:solidFill>
                      <a:schemeClr val="bg1">
                        <a:lumMod val="75000"/>
                      </a:schemeClr>
                    </a:solidFill>
                  </a:tcPr>
                </a:tc>
                <a:tc>
                  <a:txBody>
                    <a:bodyPr/>
                    <a:lstStyle/>
                    <a:p>
                      <a:pPr algn="ctr">
                        <a:lnSpc>
                          <a:spcPct val="150000"/>
                        </a:lnSpc>
                        <a:buNone/>
                      </a:pPr>
                      <a:r>
                        <a:rPr lang="zh-CN" altLang="en-US" sz="1200">
                          <a:solidFill>
                            <a:schemeClr val="tx1"/>
                          </a:solidFill>
                        </a:rPr>
                        <a:t>信息化平台</a:t>
                      </a:r>
                    </a:p>
                  </a:txBody>
                  <a:tcPr>
                    <a:solidFill>
                      <a:schemeClr val="bg1">
                        <a:lumMod val="75000"/>
                      </a:schemeClr>
                    </a:solidFill>
                  </a:tcPr>
                </a:tc>
                <a:extLst>
                  <a:ext uri="{0D108BD9-81ED-4DB2-BD59-A6C34878D82A}">
                    <a16:rowId xmlns:a16="http://schemas.microsoft.com/office/drawing/2014/main" val="10000"/>
                  </a:ext>
                </a:extLst>
              </a:tr>
            </a:tbl>
          </a:graphicData>
        </a:graphic>
      </p:graphicFrame>
      <p:sp>
        <p:nvSpPr>
          <p:cNvPr id="6" name="文本框 5"/>
          <p:cNvSpPr txBox="1"/>
          <p:nvPr/>
        </p:nvSpPr>
        <p:spPr>
          <a:xfrm>
            <a:off x="9201150" y="187960"/>
            <a:ext cx="2540000" cy="642620"/>
          </a:xfrm>
          <a:prstGeom prst="rect">
            <a:avLst/>
          </a:prstGeom>
          <a:noFill/>
        </p:spPr>
        <p:txBody>
          <a:bodyPr wrap="square" rtlCol="0" anchor="t">
            <a:spAutoFit/>
          </a:bodyPr>
          <a:lstStyle/>
          <a:p>
            <a:r>
              <a:rPr lang="zh-CN" altLang="en-US">
                <a:hlinkClick r:id="rId2" action="ppaction://hlinkfile"/>
              </a:rPr>
              <a:t>https://www.qcloud.com/solution/game.html</a:t>
            </a:r>
            <a:endParaRPr lang="zh-CN" altLang="en-US"/>
          </a:p>
        </p:txBody>
      </p:sp>
      <p:sp>
        <p:nvSpPr>
          <p:cNvPr id="7" name="文本框 6"/>
          <p:cNvSpPr txBox="1"/>
          <p:nvPr/>
        </p:nvSpPr>
        <p:spPr>
          <a:xfrm>
            <a:off x="948690" y="2019935"/>
            <a:ext cx="4603115" cy="2987040"/>
          </a:xfrm>
          <a:prstGeom prst="rect">
            <a:avLst/>
          </a:prstGeom>
          <a:noFill/>
        </p:spPr>
        <p:txBody>
          <a:bodyPr wrap="square" rtlCol="0" anchor="t">
            <a:spAutoFit/>
          </a:bodyPr>
          <a:lstStyle/>
          <a:p>
            <a:r>
              <a:rPr lang="zh-CN" altLang="en-US" sz="1200"/>
              <a:t>不论您经营的公司规模大小，我们将为您提供可靠的卡车运输方案为您运送货物，通过直通宝实现车辆在途全程可视化；</a:t>
            </a:r>
          </a:p>
          <a:p>
            <a:endParaRPr lang="zh-CN" altLang="en-US" sz="1400"/>
          </a:p>
          <a:p>
            <a:r>
              <a:rPr lang="zh-CN" altLang="en-US" sz="1200"/>
              <a:t>通过日日顺</a:t>
            </a:r>
            <a:r>
              <a:rPr lang="en-US" altLang="zh-CN" sz="1200"/>
              <a:t>OM</a:t>
            </a:r>
            <a:r>
              <a:rPr lang="zh-CN" altLang="en-US" sz="1200"/>
              <a:t>S大物流系统实现订单全程可视化，保障您的货物全程安全可控。</a:t>
            </a:r>
          </a:p>
          <a:p>
            <a:endParaRPr lang="zh-CN" altLang="en-US" sz="1400"/>
          </a:p>
          <a:p>
            <a:r>
              <a:rPr lang="zh-CN" altLang="en-US" sz="1200"/>
              <a:t>我们将利用大数据为您分析提供定制化的货运报告。</a:t>
            </a:r>
          </a:p>
          <a:p>
            <a:endParaRPr lang="zh-CN" altLang="en-US" sz="1400"/>
          </a:p>
          <a:p>
            <a:r>
              <a:rPr lang="zh-CN" altLang="en-US" sz="1200"/>
              <a:t>自有车 </a:t>
            </a:r>
            <a:r>
              <a:rPr lang="zh-CN" altLang="en-US" sz="2000">
                <a:solidFill>
                  <a:srgbClr val="C00000"/>
                </a:solidFill>
              </a:rPr>
              <a:t>221 </a:t>
            </a:r>
            <a:r>
              <a:rPr lang="zh-CN" altLang="en-US" sz="1200"/>
              <a:t>辆  运营网络 </a:t>
            </a:r>
            <a:r>
              <a:rPr lang="zh-CN" altLang="en-US" sz="2000">
                <a:solidFill>
                  <a:srgbClr val="C00000"/>
                </a:solidFill>
              </a:rPr>
              <a:t>13000 </a:t>
            </a:r>
            <a:r>
              <a:rPr lang="zh-CN" altLang="en-US" sz="1200"/>
              <a:t>余条线路</a:t>
            </a:r>
          </a:p>
          <a:p>
            <a:endParaRPr lang="zh-CN" altLang="en-US" sz="1400"/>
          </a:p>
          <a:p>
            <a:r>
              <a:rPr lang="zh-CN" altLang="en-US" sz="1200"/>
              <a:t>可调用车辆 </a:t>
            </a:r>
            <a:r>
              <a:rPr lang="zh-CN" altLang="en-US" sz="2000">
                <a:solidFill>
                  <a:srgbClr val="C00000"/>
                </a:solidFill>
              </a:rPr>
              <a:t>86000 </a:t>
            </a:r>
            <a:r>
              <a:rPr lang="zh-CN" altLang="en-US" sz="1200"/>
              <a:t>辆+  年均配送里程数</a:t>
            </a:r>
            <a:r>
              <a:rPr lang="zh-CN" altLang="en-US" sz="2000">
                <a:solidFill>
                  <a:srgbClr val="C00000"/>
                </a:solidFill>
              </a:rPr>
              <a:t> 1</a:t>
            </a:r>
            <a:r>
              <a:rPr lang="zh-CN" altLang="en-US" sz="1200"/>
              <a:t>亿 公里</a:t>
            </a:r>
          </a:p>
          <a:p>
            <a:endParaRPr lang="zh-CN" altLang="en-US" sz="1400"/>
          </a:p>
          <a:p>
            <a:r>
              <a:rPr lang="zh-CN" altLang="en-US" sz="1200"/>
              <a:t>在途车辆 </a:t>
            </a:r>
            <a:r>
              <a:rPr lang="zh-CN" altLang="en-US" sz="2000">
                <a:solidFill>
                  <a:srgbClr val="C00000"/>
                </a:solidFill>
              </a:rPr>
              <a:t>10000</a:t>
            </a:r>
            <a:r>
              <a:rPr lang="zh-CN" altLang="en-US" sz="1200"/>
              <a:t> 辆+  年均运输里程数 </a:t>
            </a:r>
            <a:r>
              <a:rPr lang="zh-CN" altLang="en-US" sz="2000">
                <a:solidFill>
                  <a:srgbClr val="C00000"/>
                </a:solidFill>
              </a:rPr>
              <a:t>6.3</a:t>
            </a:r>
            <a:r>
              <a:rPr lang="zh-CN" altLang="en-US" sz="1200"/>
              <a:t>亿 公里</a:t>
            </a:r>
          </a:p>
        </p:txBody>
      </p:sp>
      <p:pic>
        <p:nvPicPr>
          <p:cNvPr id="9" name="图片 8"/>
          <p:cNvPicPr>
            <a:picLocks noChangeAspect="1"/>
          </p:cNvPicPr>
          <p:nvPr/>
        </p:nvPicPr>
        <p:blipFill>
          <a:blip r:embed="rId3">
            <a:clrChange>
              <a:clrFrom>
                <a:srgbClr val="10101A">
                  <a:alpha val="100000"/>
                </a:srgbClr>
              </a:clrFrom>
              <a:clrTo>
                <a:srgbClr val="10101A">
                  <a:alpha val="100000"/>
                  <a:alpha val="0"/>
                </a:srgbClr>
              </a:clrTo>
            </a:clrChange>
          </a:blip>
          <a:stretch>
            <a:fillRect/>
          </a:stretch>
        </p:blipFill>
        <p:spPr>
          <a:xfrm>
            <a:off x="5845810" y="2081530"/>
            <a:ext cx="5182235" cy="29254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流程图: 合并 7"/>
          <p:cNvSpPr/>
          <p:nvPr/>
        </p:nvSpPr>
        <p:spPr>
          <a:xfrm>
            <a:off x="1420495" y="1769745"/>
            <a:ext cx="238125" cy="180975"/>
          </a:xfrm>
          <a:prstGeom prst="flowChartMerge">
            <a:avLst/>
          </a:prstGeom>
          <a:solidFill>
            <a:srgbClr val="C6003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p:nvPr/>
        </p:nvGraphicFramePr>
        <p:xfrm>
          <a:off x="948690" y="1399540"/>
          <a:ext cx="4660265" cy="447675"/>
        </p:xfrm>
        <a:graphic>
          <a:graphicData uri="http://schemas.openxmlformats.org/drawingml/2006/table">
            <a:tbl>
              <a:tblPr firstRow="1" bandRow="1">
                <a:tableStyleId>{5C22544A-7EE6-4342-B048-85BDC9FD1C3A}</a:tableStyleId>
              </a:tblPr>
              <a:tblGrid>
                <a:gridCol w="1165860">
                  <a:extLst>
                    <a:ext uri="{9D8B030D-6E8A-4147-A177-3AD203B41FA5}">
                      <a16:colId xmlns:a16="http://schemas.microsoft.com/office/drawing/2014/main" val="20000"/>
                    </a:ext>
                  </a:extLst>
                </a:gridCol>
                <a:gridCol w="1164590">
                  <a:extLst>
                    <a:ext uri="{9D8B030D-6E8A-4147-A177-3AD203B41FA5}">
                      <a16:colId xmlns:a16="http://schemas.microsoft.com/office/drawing/2014/main" val="20001"/>
                    </a:ext>
                  </a:extLst>
                </a:gridCol>
                <a:gridCol w="1163955">
                  <a:extLst>
                    <a:ext uri="{9D8B030D-6E8A-4147-A177-3AD203B41FA5}">
                      <a16:colId xmlns:a16="http://schemas.microsoft.com/office/drawing/2014/main" val="20002"/>
                    </a:ext>
                  </a:extLst>
                </a:gridCol>
                <a:gridCol w="1165860">
                  <a:extLst>
                    <a:ext uri="{9D8B030D-6E8A-4147-A177-3AD203B41FA5}">
                      <a16:colId xmlns:a16="http://schemas.microsoft.com/office/drawing/2014/main" val="20003"/>
                    </a:ext>
                  </a:extLst>
                </a:gridCol>
              </a:tblGrid>
              <a:tr h="447675">
                <a:tc>
                  <a:txBody>
                    <a:bodyPr/>
                    <a:lstStyle/>
                    <a:p>
                      <a:pPr algn="ctr">
                        <a:lnSpc>
                          <a:spcPct val="150000"/>
                        </a:lnSpc>
                        <a:buNone/>
                      </a:pPr>
                      <a:r>
                        <a:rPr lang="zh-CN" altLang="en-US" sz="1200"/>
                        <a:t>送装服务平台</a:t>
                      </a:r>
                    </a:p>
                  </a:txBody>
                  <a:tcPr>
                    <a:solidFill>
                      <a:srgbClr val="C6003A"/>
                    </a:solidFill>
                  </a:tcPr>
                </a:tc>
                <a:tc>
                  <a:txBody>
                    <a:bodyPr/>
                    <a:lstStyle/>
                    <a:p>
                      <a:pPr algn="ctr">
                        <a:lnSpc>
                          <a:spcPct val="150000"/>
                        </a:lnSpc>
                        <a:buNone/>
                      </a:pPr>
                      <a:r>
                        <a:rPr lang="zh-CN" altLang="en-US" sz="1200">
                          <a:solidFill>
                            <a:schemeClr val="tx1"/>
                          </a:solidFill>
                        </a:rPr>
                        <a:t>冷链平台</a:t>
                      </a:r>
                    </a:p>
                  </a:txBody>
                  <a:tcPr>
                    <a:solidFill>
                      <a:schemeClr val="bg1">
                        <a:lumMod val="75000"/>
                      </a:schemeClr>
                    </a:solidFill>
                  </a:tcPr>
                </a:tc>
                <a:tc>
                  <a:txBody>
                    <a:bodyPr/>
                    <a:lstStyle/>
                    <a:p>
                      <a:pPr algn="ctr">
                        <a:lnSpc>
                          <a:spcPct val="150000"/>
                        </a:lnSpc>
                        <a:buNone/>
                      </a:pPr>
                      <a:r>
                        <a:rPr lang="zh-CN" altLang="en-US" sz="1200">
                          <a:solidFill>
                            <a:schemeClr val="tx1"/>
                          </a:solidFill>
                        </a:rPr>
                        <a:t>国际货运平台</a:t>
                      </a:r>
                    </a:p>
                  </a:txBody>
                  <a:tcPr>
                    <a:solidFill>
                      <a:schemeClr val="bg1">
                        <a:lumMod val="75000"/>
                      </a:schemeClr>
                    </a:solidFill>
                  </a:tcPr>
                </a:tc>
                <a:tc>
                  <a:txBody>
                    <a:bodyPr/>
                    <a:lstStyle/>
                    <a:p>
                      <a:pPr algn="ctr">
                        <a:lnSpc>
                          <a:spcPct val="150000"/>
                        </a:lnSpc>
                        <a:buNone/>
                      </a:pPr>
                      <a:r>
                        <a:rPr lang="zh-CN" altLang="en-US" sz="1200">
                          <a:solidFill>
                            <a:schemeClr val="tx1"/>
                          </a:solidFill>
                        </a:rPr>
                        <a:t>零担平台</a:t>
                      </a:r>
                    </a:p>
                  </a:txBody>
                  <a:tcPr>
                    <a:solidFill>
                      <a:schemeClr val="bg1">
                        <a:lumMod val="75000"/>
                      </a:schemeClr>
                    </a:solidFill>
                  </a:tcPr>
                </a:tc>
                <a:extLst>
                  <a:ext uri="{0D108BD9-81ED-4DB2-BD59-A6C34878D82A}">
                    <a16:rowId xmlns:a16="http://schemas.microsoft.com/office/drawing/2014/main" val="10000"/>
                  </a:ext>
                </a:extLst>
              </a:tr>
            </a:tbl>
          </a:graphicData>
        </a:graphic>
      </p:graphicFrame>
      <p:sp>
        <p:nvSpPr>
          <p:cNvPr id="7" name="文本框 6"/>
          <p:cNvSpPr txBox="1"/>
          <p:nvPr/>
        </p:nvSpPr>
        <p:spPr>
          <a:xfrm>
            <a:off x="948690" y="2046605"/>
            <a:ext cx="4603115" cy="2165985"/>
          </a:xfrm>
          <a:prstGeom prst="rect">
            <a:avLst/>
          </a:prstGeom>
          <a:noFill/>
        </p:spPr>
        <p:txBody>
          <a:bodyPr wrap="square" rtlCol="0" anchor="t">
            <a:spAutoFit/>
          </a:bodyPr>
          <a:lstStyle/>
          <a:p>
            <a:r>
              <a:rPr lang="en-US" altLang="zh-CN" sz="1200"/>
              <a:t>         </a:t>
            </a:r>
            <a:r>
              <a:rPr lang="zh-CN" altLang="en-US" sz="1200"/>
              <a:t>日日顺物流从仓储到干线集配到城市配送到上门送货安装一体化，全流程可视，为前端客户提供全流程解决方案，为终端用户提供最优的购物体验。</a:t>
            </a:r>
          </a:p>
          <a:p>
            <a:r>
              <a:rPr lang="zh-CN" altLang="en-US" sz="1200"/>
              <a:t>        除B2C外，日日顺物流电商提供门店配送，商超配送等服务。通过日日顺物流电商网络，B2B配送到京东、物流宝、国美在线、苏宁易购等线上平台仓库，提升各大电商平台仓的现货率。</a:t>
            </a:r>
          </a:p>
          <a:p>
            <a:pPr indent="0" algn="l">
              <a:buNone/>
            </a:pPr>
            <a:endParaRPr lang="zh-CN" altLang="en-US" sz="1200"/>
          </a:p>
          <a:p>
            <a:pPr indent="0" algn="l">
              <a:buNone/>
            </a:pPr>
            <a:r>
              <a:rPr lang="zh-CN" altLang="en-US" sz="1200"/>
              <a:t>全国</a:t>
            </a:r>
            <a:r>
              <a:rPr lang="zh-CN" altLang="en-US" sz="2000">
                <a:solidFill>
                  <a:srgbClr val="C00000"/>
                </a:solidFill>
              </a:rPr>
              <a:t>6000</a:t>
            </a:r>
            <a:r>
              <a:rPr lang="zh-CN" altLang="en-US" sz="1200"/>
              <a:t>多个送装一体化服务网点；</a:t>
            </a:r>
          </a:p>
          <a:p>
            <a:pPr indent="0" algn="l">
              <a:buNone/>
            </a:pPr>
            <a:r>
              <a:rPr lang="zh-CN" altLang="en-US" sz="1200"/>
              <a:t>全国送装服务无盲区。</a:t>
            </a:r>
          </a:p>
          <a:p>
            <a:pPr indent="0" algn="l">
              <a:buNone/>
            </a:pPr>
            <a:r>
              <a:rPr lang="zh-CN" altLang="en-US" sz="2000">
                <a:solidFill>
                  <a:srgbClr val="C00000"/>
                </a:solidFill>
              </a:rPr>
              <a:t>1+5</a:t>
            </a:r>
            <a:r>
              <a:rPr lang="zh-CN" altLang="en-US" sz="1200"/>
              <a:t>增值服务解决方案</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8185" y="1727835"/>
            <a:ext cx="5494020" cy="30905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48530" y="1277620"/>
            <a:ext cx="1714500" cy="396240"/>
          </a:xfrm>
          <a:prstGeom prst="rect">
            <a:avLst/>
          </a:prstGeom>
          <a:noFill/>
        </p:spPr>
        <p:txBody>
          <a:bodyPr wrap="none" rtlCol="0">
            <a:spAutoFit/>
          </a:bodyPr>
          <a:lstStyle/>
          <a:p>
            <a:pPr algn="dist">
              <a:lnSpc>
                <a:spcPct val="100000"/>
              </a:lnSpc>
            </a:pPr>
            <a:r>
              <a:rPr lang="zh-CN" altLang="en-US" sz="2000" b="1"/>
              <a:t>全程服务追踪</a:t>
            </a:r>
          </a:p>
        </p:txBody>
      </p:sp>
      <p:cxnSp>
        <p:nvCxnSpPr>
          <p:cNvPr id="5" name="直接连接符 4"/>
          <p:cNvCxnSpPr/>
          <p:nvPr/>
        </p:nvCxnSpPr>
        <p:spPr>
          <a:xfrm>
            <a:off x="4777105" y="1628775"/>
            <a:ext cx="165735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2">
            <a:extLst>
              <a:ext uri="{28A0092B-C50C-407E-A947-70E740481C1C}">
                <a14:useLocalDpi xmlns:a14="http://schemas.microsoft.com/office/drawing/2010/main" val="0"/>
              </a:ext>
            </a:extLst>
          </a:blip>
          <a:srcRect l="2700" t="32062" r="6937" b="52655"/>
          <a:stretch>
            <a:fillRect/>
          </a:stretch>
        </p:blipFill>
        <p:spPr>
          <a:xfrm>
            <a:off x="1166495" y="3168015"/>
            <a:ext cx="10050780" cy="859790"/>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rcRect l="3124" t="75233" r="4134" b="7163"/>
          <a:stretch>
            <a:fillRect/>
          </a:stretch>
        </p:blipFill>
        <p:spPr>
          <a:xfrm>
            <a:off x="1182370" y="4004945"/>
            <a:ext cx="10011410" cy="1069975"/>
          </a:xfrm>
          <a:prstGeom prst="rect">
            <a:avLst/>
          </a:prstGeom>
        </p:spPr>
      </p:pic>
      <p:sp>
        <p:nvSpPr>
          <p:cNvPr id="8" name="文本框 7"/>
          <p:cNvSpPr txBox="1"/>
          <p:nvPr/>
        </p:nvSpPr>
        <p:spPr>
          <a:xfrm>
            <a:off x="1182370" y="2126615"/>
            <a:ext cx="7076440" cy="825500"/>
          </a:xfrm>
          <a:prstGeom prst="rect">
            <a:avLst/>
          </a:prstGeom>
          <a:noFill/>
        </p:spPr>
        <p:txBody>
          <a:bodyPr wrap="none" rtlCol="0">
            <a:spAutoFit/>
          </a:bodyPr>
          <a:lstStyle/>
          <a:p>
            <a:pPr marL="285750" indent="-285750">
              <a:buFont typeface="Wingdings" panose="05000000000000000000" charset="0"/>
              <a:buChar char="u"/>
            </a:pPr>
            <a:r>
              <a:rPr lang="zh-CN" altLang="en-US" sz="1600"/>
              <a:t>配送全流程可视，与用户</a:t>
            </a:r>
            <a:r>
              <a:rPr lang="en-US" altLang="zh-CN" sz="1600"/>
              <a:t>6</a:t>
            </a:r>
            <a:r>
              <a:rPr lang="zh-CN" altLang="en-US" sz="1600"/>
              <a:t>大节点零距离交互。</a:t>
            </a:r>
          </a:p>
          <a:p>
            <a:pPr marL="285750" indent="-285750">
              <a:buFont typeface="Wingdings" panose="05000000000000000000" charset="0"/>
              <a:buChar char="u"/>
            </a:pPr>
            <a:r>
              <a:rPr lang="en-US" altLang="zh-CN" sz="1600"/>
              <a:t>2</a:t>
            </a:r>
            <a:r>
              <a:rPr lang="zh-CN" altLang="en-US" sz="1600"/>
              <a:t>次电话预约（配送前确定送货日期，上门前</a:t>
            </a:r>
            <a:r>
              <a:rPr lang="en-US" altLang="zh-CN" sz="1600"/>
              <a:t>24</a:t>
            </a:r>
            <a:r>
              <a:rPr lang="zh-CN" altLang="en-US" sz="1600"/>
              <a:t>小时电话确认送货时间）。</a:t>
            </a:r>
          </a:p>
          <a:p>
            <a:pPr marL="285750" indent="-285750">
              <a:buFont typeface="Wingdings" panose="05000000000000000000" charset="0"/>
              <a:buChar char="u"/>
            </a:pPr>
            <a:r>
              <a:rPr lang="en-US" altLang="zh-CN" sz="1600"/>
              <a:t>3</a:t>
            </a:r>
            <a:r>
              <a:rPr lang="zh-CN" altLang="en-US" sz="1600"/>
              <a:t>次短信提醒（预约送货短信、出库短信</a:t>
            </a:r>
            <a:r>
              <a:rPr lang="en-US" altLang="zh-CN" sz="1600"/>
              <a:t>+</a:t>
            </a:r>
            <a:r>
              <a:rPr lang="zh-CN" altLang="en-US" sz="1600"/>
              <a:t>验证码、签收提醒短信）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a:endCxn id="7" idx="2"/>
          </p:cNvCxnSpPr>
          <p:nvPr/>
        </p:nvCxnSpPr>
        <p:spPr>
          <a:xfrm flipV="1">
            <a:off x="1402715" y="2296795"/>
            <a:ext cx="680085" cy="45720"/>
          </a:xfrm>
          <a:prstGeom prst="line">
            <a:avLst/>
          </a:prstGeom>
        </p:spPr>
        <p:style>
          <a:lnRef idx="1">
            <a:schemeClr val="accent1"/>
          </a:lnRef>
          <a:fillRef idx="0">
            <a:schemeClr val="accent1"/>
          </a:fillRef>
          <a:effectRef idx="0">
            <a:schemeClr val="accent1"/>
          </a:effectRef>
          <a:fontRef idx="minor">
            <a:schemeClr val="tx1"/>
          </a:fontRef>
        </p:style>
      </p:cxnSp>
      <p:sp>
        <p:nvSpPr>
          <p:cNvPr id="184" name=" 184"/>
          <p:cNvSpPr/>
          <p:nvPr/>
        </p:nvSpPr>
        <p:spPr>
          <a:xfrm>
            <a:off x="4635500" y="1569085"/>
            <a:ext cx="1035685" cy="103568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0">
            <a:scene3d>
              <a:camera prst="orthographicFront"/>
              <a:lightRig rig="threePt" dir="t"/>
            </a:scene3d>
            <a:sp3d>
              <a:contourClr>
                <a:srgbClr val="FFFFFF"/>
              </a:contourClr>
            </a:sp3d>
          </a:bodyPr>
          <a:lstStyle/>
          <a:p>
            <a:pPr algn="ctr" eaLnBrk="1" fontAlgn="auto" hangingPunct="1">
              <a:spcBef>
                <a:spcPts val="0"/>
              </a:spcBef>
              <a:spcAft>
                <a:spcPts val="0"/>
              </a:spcAft>
              <a:defRPr/>
            </a:pPr>
            <a:r>
              <a:rPr lang="zh-CN" altLang="en-US" b="1">
                <a:solidFill>
                  <a:srgbClr val="FFFFFF"/>
                </a:solidFill>
              </a:rPr>
              <a:t>日日顺物流</a:t>
            </a:r>
          </a:p>
        </p:txBody>
      </p:sp>
      <p:cxnSp>
        <p:nvCxnSpPr>
          <p:cNvPr id="4" name="直接连接符 3"/>
          <p:cNvCxnSpPr>
            <a:stCxn id="7" idx="6"/>
            <a:endCxn id="184" idx="2"/>
          </p:cNvCxnSpPr>
          <p:nvPr/>
        </p:nvCxnSpPr>
        <p:spPr>
          <a:xfrm flipV="1">
            <a:off x="2998470" y="2087245"/>
            <a:ext cx="1637030" cy="2095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 5"/>
          <p:cNvSpPr/>
          <p:nvPr/>
        </p:nvSpPr>
        <p:spPr>
          <a:xfrm>
            <a:off x="8502015" y="1067435"/>
            <a:ext cx="1096645" cy="109664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sz="1600">
                <a:solidFill>
                  <a:srgbClr val="FFFFFF"/>
                </a:solidFill>
              </a:rPr>
              <a:t>客户</a:t>
            </a:r>
          </a:p>
        </p:txBody>
      </p:sp>
      <p:sp>
        <p:nvSpPr>
          <p:cNvPr id="6" name=" 5"/>
          <p:cNvSpPr/>
          <p:nvPr/>
        </p:nvSpPr>
        <p:spPr>
          <a:xfrm>
            <a:off x="4965700" y="3382010"/>
            <a:ext cx="915670" cy="9156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sz="1600">
                <a:solidFill>
                  <a:srgbClr val="FFFFFF"/>
                </a:solidFill>
              </a:rPr>
              <a:t>加盟商</a:t>
            </a:r>
          </a:p>
        </p:txBody>
      </p:sp>
      <p:sp>
        <p:nvSpPr>
          <p:cNvPr id="7" name=" 5"/>
          <p:cNvSpPr/>
          <p:nvPr/>
        </p:nvSpPr>
        <p:spPr>
          <a:xfrm>
            <a:off x="2082800" y="1838960"/>
            <a:ext cx="915670" cy="9156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sz="1600">
                <a:solidFill>
                  <a:srgbClr val="FFFFFF"/>
                </a:solidFill>
              </a:rPr>
              <a:t>智能系统</a:t>
            </a:r>
          </a:p>
        </p:txBody>
      </p:sp>
      <p:cxnSp>
        <p:nvCxnSpPr>
          <p:cNvPr id="8" name="直接连接符 7"/>
          <p:cNvCxnSpPr>
            <a:stCxn id="6" idx="0"/>
            <a:endCxn id="184" idx="4"/>
          </p:cNvCxnSpPr>
          <p:nvPr/>
        </p:nvCxnSpPr>
        <p:spPr>
          <a:xfrm flipH="1" flipV="1">
            <a:off x="5139690" y="2604770"/>
            <a:ext cx="269875" cy="7772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184" idx="6"/>
            <a:endCxn id="5" idx="2"/>
          </p:cNvCxnSpPr>
          <p:nvPr/>
        </p:nvCxnSpPr>
        <p:spPr>
          <a:xfrm flipV="1">
            <a:off x="5657215" y="1616075"/>
            <a:ext cx="2830830" cy="47117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 5"/>
          <p:cNvSpPr/>
          <p:nvPr/>
        </p:nvSpPr>
        <p:spPr>
          <a:xfrm>
            <a:off x="2019300" y="581660"/>
            <a:ext cx="825500" cy="825500"/>
          </a:xfrm>
          <a:prstGeom prst="ellipse">
            <a:avLst/>
          </a:prstGeom>
        </p:spPr>
        <p:style>
          <a:lnRef idx="1">
            <a:schemeClr val="accent5"/>
          </a:lnRef>
          <a:fillRef idx="3">
            <a:schemeClr val="accent5"/>
          </a:fillRef>
          <a:effectRef idx="2">
            <a:schemeClr val="accent5"/>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1400" b="1">
                <a:solidFill>
                  <a:schemeClr val="accent4"/>
                </a:solidFill>
              </a:rPr>
              <a:t>OMS</a:t>
            </a:r>
          </a:p>
        </p:txBody>
      </p:sp>
      <p:sp>
        <p:nvSpPr>
          <p:cNvPr id="11" name=" 5"/>
          <p:cNvSpPr/>
          <p:nvPr/>
        </p:nvSpPr>
        <p:spPr>
          <a:xfrm>
            <a:off x="1727200" y="3197860"/>
            <a:ext cx="825500" cy="82550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altLang="zh-CN" sz="1400" b="1">
                <a:solidFill>
                  <a:schemeClr val="accent4"/>
                </a:solidFill>
                <a:sym typeface="+mn-ea"/>
              </a:rPr>
              <a:t>TMS</a:t>
            </a:r>
          </a:p>
        </p:txBody>
      </p:sp>
      <p:sp>
        <p:nvSpPr>
          <p:cNvPr id="12" name=" 5"/>
          <p:cNvSpPr/>
          <p:nvPr/>
        </p:nvSpPr>
        <p:spPr>
          <a:xfrm>
            <a:off x="723900" y="1953260"/>
            <a:ext cx="825500" cy="82550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altLang="zh-CN" sz="1400" b="1">
                <a:solidFill>
                  <a:schemeClr val="accent4"/>
                </a:solidFill>
                <a:sym typeface="+mn-ea"/>
              </a:rPr>
              <a:t>WMS</a:t>
            </a:r>
          </a:p>
        </p:txBody>
      </p:sp>
      <p:cxnSp>
        <p:nvCxnSpPr>
          <p:cNvPr id="14" name="直接连接符 13"/>
          <p:cNvCxnSpPr>
            <a:stCxn id="10" idx="4"/>
            <a:endCxn id="7" idx="0"/>
          </p:cNvCxnSpPr>
          <p:nvPr/>
        </p:nvCxnSpPr>
        <p:spPr>
          <a:xfrm>
            <a:off x="2418080" y="1407160"/>
            <a:ext cx="108585" cy="431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1" idx="7"/>
            <a:endCxn id="7" idx="4"/>
          </p:cNvCxnSpPr>
          <p:nvPr/>
        </p:nvCxnSpPr>
        <p:spPr>
          <a:xfrm flipV="1">
            <a:off x="2418080" y="2754630"/>
            <a:ext cx="108585" cy="563880"/>
          </a:xfrm>
          <a:prstGeom prst="line">
            <a:avLst/>
          </a:prstGeom>
        </p:spPr>
        <p:style>
          <a:lnRef idx="1">
            <a:schemeClr val="accent1"/>
          </a:lnRef>
          <a:fillRef idx="0">
            <a:schemeClr val="accent1"/>
          </a:fillRef>
          <a:effectRef idx="0">
            <a:schemeClr val="accent1"/>
          </a:effectRef>
          <a:fontRef idx="minor">
            <a:schemeClr val="tx1"/>
          </a:fontRef>
        </p:style>
      </p:cxnSp>
      <p:sp>
        <p:nvSpPr>
          <p:cNvPr id="16" name=" 5"/>
          <p:cNvSpPr/>
          <p:nvPr/>
        </p:nvSpPr>
        <p:spPr>
          <a:xfrm>
            <a:off x="3562350" y="3918585"/>
            <a:ext cx="825500" cy="82550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altLang="zh-CN" sz="1400" b="1">
                <a:solidFill>
                  <a:schemeClr val="accent4"/>
                </a:solidFill>
                <a:sym typeface="+mn-ea"/>
              </a:rPr>
              <a:t>宅急送</a:t>
            </a:r>
          </a:p>
        </p:txBody>
      </p:sp>
      <p:sp>
        <p:nvSpPr>
          <p:cNvPr id="17" name=" 5"/>
          <p:cNvSpPr/>
          <p:nvPr/>
        </p:nvSpPr>
        <p:spPr>
          <a:xfrm>
            <a:off x="6121400" y="4202430"/>
            <a:ext cx="825500" cy="82550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altLang="zh-CN" sz="1400" b="1">
                <a:solidFill>
                  <a:schemeClr val="accent4"/>
                </a:solidFill>
                <a:sym typeface="+mn-ea"/>
              </a:rPr>
              <a:t>云鸟配送</a:t>
            </a:r>
          </a:p>
        </p:txBody>
      </p:sp>
      <p:sp>
        <p:nvSpPr>
          <p:cNvPr id="18" name=" 5"/>
          <p:cNvSpPr/>
          <p:nvPr/>
        </p:nvSpPr>
        <p:spPr>
          <a:xfrm>
            <a:off x="6362700" y="2712720"/>
            <a:ext cx="825500" cy="82550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altLang="zh-CN" sz="1400" b="1">
                <a:solidFill>
                  <a:schemeClr val="accent4"/>
                </a:solidFill>
                <a:sym typeface="+mn-ea"/>
              </a:rPr>
              <a:t>安迅物流</a:t>
            </a:r>
          </a:p>
        </p:txBody>
      </p:sp>
      <p:cxnSp>
        <p:nvCxnSpPr>
          <p:cNvPr id="19" name="直接连接符 18"/>
          <p:cNvCxnSpPr>
            <a:stCxn id="17" idx="1"/>
            <a:endCxn id="6" idx="5"/>
          </p:cNvCxnSpPr>
          <p:nvPr/>
        </p:nvCxnSpPr>
        <p:spPr>
          <a:xfrm flipH="1" flipV="1">
            <a:off x="5733415" y="4163695"/>
            <a:ext cx="494665" cy="1593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6" idx="7"/>
            <a:endCxn id="6" idx="2"/>
          </p:cNvCxnSpPr>
          <p:nvPr/>
        </p:nvCxnSpPr>
        <p:spPr>
          <a:xfrm flipV="1">
            <a:off x="4253230" y="3839845"/>
            <a:ext cx="698500" cy="199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6" idx="7"/>
            <a:endCxn id="18" idx="2"/>
          </p:cNvCxnSpPr>
          <p:nvPr/>
        </p:nvCxnSpPr>
        <p:spPr>
          <a:xfrm flipV="1">
            <a:off x="5733415" y="3125470"/>
            <a:ext cx="615315" cy="390525"/>
          </a:xfrm>
          <a:prstGeom prst="line">
            <a:avLst/>
          </a:prstGeom>
        </p:spPr>
        <p:style>
          <a:lnRef idx="1">
            <a:schemeClr val="accent1"/>
          </a:lnRef>
          <a:fillRef idx="0">
            <a:schemeClr val="accent1"/>
          </a:fillRef>
          <a:effectRef idx="0">
            <a:schemeClr val="accent1"/>
          </a:effectRef>
          <a:fontRef idx="minor">
            <a:schemeClr val="tx1"/>
          </a:fontRef>
        </p:style>
      </p:cxnSp>
      <p:sp>
        <p:nvSpPr>
          <p:cNvPr id="22" name=" 5"/>
          <p:cNvSpPr/>
          <p:nvPr/>
        </p:nvSpPr>
        <p:spPr>
          <a:xfrm>
            <a:off x="8013065" y="337185"/>
            <a:ext cx="601980" cy="60198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zh-CN" altLang="en-US" sz="1400" b="1">
                <a:solidFill>
                  <a:schemeClr val="accent4"/>
                </a:solidFill>
                <a:sym typeface="+mn-ea"/>
              </a:rPr>
              <a:t>天猫</a:t>
            </a:r>
          </a:p>
        </p:txBody>
      </p:sp>
      <p:sp>
        <p:nvSpPr>
          <p:cNvPr id="23" name=" 5"/>
          <p:cNvSpPr/>
          <p:nvPr/>
        </p:nvSpPr>
        <p:spPr>
          <a:xfrm>
            <a:off x="9944735" y="241935"/>
            <a:ext cx="689610" cy="68961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zh-CN" altLang="en-US" sz="1400" b="1">
                <a:solidFill>
                  <a:schemeClr val="accent4"/>
                </a:solidFill>
                <a:sym typeface="+mn-ea"/>
              </a:rPr>
              <a:t>京东</a:t>
            </a:r>
          </a:p>
        </p:txBody>
      </p:sp>
      <p:sp>
        <p:nvSpPr>
          <p:cNvPr id="24" name=" 5"/>
          <p:cNvSpPr/>
          <p:nvPr/>
        </p:nvSpPr>
        <p:spPr>
          <a:xfrm>
            <a:off x="9633585" y="2439035"/>
            <a:ext cx="697230" cy="69723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zh-CN" altLang="en-US" sz="1400" b="1">
                <a:solidFill>
                  <a:schemeClr val="accent4"/>
                </a:solidFill>
                <a:sym typeface="+mn-ea"/>
              </a:rPr>
              <a:t>联想</a:t>
            </a:r>
          </a:p>
        </p:txBody>
      </p:sp>
      <p:cxnSp>
        <p:nvCxnSpPr>
          <p:cNvPr id="25" name="直接连接符 24"/>
          <p:cNvCxnSpPr>
            <a:stCxn id="22" idx="5"/>
            <a:endCxn id="5" idx="1"/>
          </p:cNvCxnSpPr>
          <p:nvPr/>
        </p:nvCxnSpPr>
        <p:spPr>
          <a:xfrm>
            <a:off x="8512810" y="850900"/>
            <a:ext cx="135890" cy="377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5" idx="7"/>
            <a:endCxn id="23" idx="3"/>
          </p:cNvCxnSpPr>
          <p:nvPr/>
        </p:nvCxnSpPr>
        <p:spPr>
          <a:xfrm flipV="1">
            <a:off x="9424035" y="830580"/>
            <a:ext cx="607695" cy="3975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5" idx="5"/>
            <a:endCxn id="24" idx="1"/>
          </p:cNvCxnSpPr>
          <p:nvPr/>
        </p:nvCxnSpPr>
        <p:spPr>
          <a:xfrm>
            <a:off x="9424035" y="2003425"/>
            <a:ext cx="297815" cy="537845"/>
          </a:xfrm>
          <a:prstGeom prst="line">
            <a:avLst/>
          </a:prstGeom>
        </p:spPr>
        <p:style>
          <a:lnRef idx="1">
            <a:schemeClr val="accent1"/>
          </a:lnRef>
          <a:fillRef idx="0">
            <a:schemeClr val="accent1"/>
          </a:fillRef>
          <a:effectRef idx="0">
            <a:schemeClr val="accent1"/>
          </a:effectRef>
          <a:fontRef idx="minor">
            <a:schemeClr val="tx1"/>
          </a:fontRef>
        </p:style>
      </p:cxnSp>
      <p:sp>
        <p:nvSpPr>
          <p:cNvPr id="29" name=" 5"/>
          <p:cNvSpPr/>
          <p:nvPr/>
        </p:nvSpPr>
        <p:spPr>
          <a:xfrm>
            <a:off x="10494010" y="1410335"/>
            <a:ext cx="689610" cy="689610"/>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zh-CN" altLang="en-US" sz="1400" b="1">
                <a:solidFill>
                  <a:schemeClr val="accent4"/>
                </a:solidFill>
                <a:sym typeface="+mn-ea"/>
              </a:rPr>
              <a:t>顾家</a:t>
            </a:r>
          </a:p>
        </p:txBody>
      </p:sp>
      <p:cxnSp>
        <p:nvCxnSpPr>
          <p:cNvPr id="30" name="直接连接符 29"/>
          <p:cNvCxnSpPr>
            <a:stCxn id="5" idx="6"/>
            <a:endCxn id="29" idx="2"/>
          </p:cNvCxnSpPr>
          <p:nvPr/>
        </p:nvCxnSpPr>
        <p:spPr>
          <a:xfrm>
            <a:off x="9584690" y="1616075"/>
            <a:ext cx="895350" cy="139065"/>
          </a:xfrm>
          <a:prstGeom prst="line">
            <a:avLst/>
          </a:prstGeom>
        </p:spPr>
        <p:style>
          <a:lnRef idx="1">
            <a:schemeClr val="accent1"/>
          </a:lnRef>
          <a:fillRef idx="0">
            <a:schemeClr val="accent1"/>
          </a:fillRef>
          <a:effectRef idx="0">
            <a:schemeClr val="accent1"/>
          </a:effectRef>
          <a:fontRef idx="minor">
            <a:schemeClr val="tx1"/>
          </a:fontRef>
        </p:style>
      </p:cxnSp>
      <p:sp>
        <p:nvSpPr>
          <p:cNvPr id="31" name=" 5"/>
          <p:cNvSpPr/>
          <p:nvPr/>
        </p:nvSpPr>
        <p:spPr>
          <a:xfrm>
            <a:off x="8074660" y="2543810"/>
            <a:ext cx="704215" cy="704215"/>
          </a:xfrm>
          <a:prstGeom prst="ellipse">
            <a:avLst/>
          </a:prstGeom>
        </p:spPr>
        <p:style>
          <a:lnRef idx="1">
            <a:schemeClr val="accent5"/>
          </a:lnRef>
          <a:fillRef idx="3">
            <a:schemeClr val="accent5"/>
          </a:fillRef>
          <a:effectRef idx="2">
            <a:schemeClr val="accent5"/>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zh-CN" altLang="en-US" sz="1400" b="1">
                <a:solidFill>
                  <a:schemeClr val="accent4"/>
                </a:solidFill>
                <a:sym typeface="+mn-ea"/>
              </a:rPr>
              <a:t>小米</a:t>
            </a:r>
          </a:p>
        </p:txBody>
      </p:sp>
      <p:cxnSp>
        <p:nvCxnSpPr>
          <p:cNvPr id="32" name="直接连接符 31"/>
          <p:cNvCxnSpPr>
            <a:stCxn id="31" idx="7"/>
            <a:endCxn id="5" idx="4"/>
          </p:cNvCxnSpPr>
          <p:nvPr/>
        </p:nvCxnSpPr>
        <p:spPr>
          <a:xfrm flipV="1">
            <a:off x="8662035" y="2164080"/>
            <a:ext cx="374650" cy="482600"/>
          </a:xfrm>
          <a:prstGeom prst="line">
            <a:avLst/>
          </a:prstGeom>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641350" y="83185"/>
            <a:ext cx="10726420" cy="4944745"/>
          </a:xfrm>
          <a:prstGeom prst="rect">
            <a:avLst/>
          </a:prstGeom>
          <a:noFill/>
          <a:ln>
            <a:solidFill>
              <a:schemeClr val="accent1"/>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15790" y="464820"/>
            <a:ext cx="1097280" cy="365760"/>
          </a:xfrm>
          <a:prstGeom prst="rect">
            <a:avLst/>
          </a:prstGeom>
          <a:noFill/>
        </p:spPr>
        <p:txBody>
          <a:bodyPr wrap="none" rtlCol="0">
            <a:spAutoFit/>
          </a:bodyPr>
          <a:lstStyle/>
          <a:p>
            <a:r>
              <a:rPr lang="zh-CN" altLang="en-US"/>
              <a:t>添加背景</a:t>
            </a:r>
          </a:p>
        </p:txBody>
      </p:sp>
      <p:sp>
        <p:nvSpPr>
          <p:cNvPr id="37" name="矩形 36"/>
          <p:cNvSpPr/>
          <p:nvPr/>
        </p:nvSpPr>
        <p:spPr>
          <a:xfrm>
            <a:off x="641985" y="5097780"/>
            <a:ext cx="10737215" cy="170053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日日顺物流整合海尔集团的物流网、服务网、营销网以及信息网资源，建成开放的四网融合的智慧物流平台,至今发展17年，平台上聚集了9万辆创业车小微和18万创客服务兵，每年配送的订单仅在C端就高达6000万单，每年配送的方量达5500万立方米。凭借优势资源和软硬件实力，日日顺物流与天猫、京东等平台企业，小米、微鲸、联想17TV等互联网电视品牌，美乐乐、芝华士、喜临门、顾家、酷漫居等60多个家居类客户，以及小牛电动车，亿健、伊吉康、蓝堡等健身器械品牌与日日顺物流一起建立了物流行业最大规模的生态圈。</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1435" y="-309245"/>
            <a:ext cx="12295505" cy="7476490"/>
          </a:xfrm>
          <a:prstGeom prst="rect">
            <a:avLst/>
          </a:prstGeom>
        </p:spPr>
      </p:pic>
      <p:sp>
        <p:nvSpPr>
          <p:cNvPr id="7" name="椭圆 6"/>
          <p:cNvSpPr/>
          <p:nvPr/>
        </p:nvSpPr>
        <p:spPr>
          <a:xfrm>
            <a:off x="5832475" y="4919980"/>
            <a:ext cx="664210" cy="6642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rrswl</a:t>
            </a:r>
          </a:p>
        </p:txBody>
      </p:sp>
      <p:sp>
        <p:nvSpPr>
          <p:cNvPr id="8" name="椭圆 7"/>
          <p:cNvSpPr/>
          <p:nvPr/>
        </p:nvSpPr>
        <p:spPr>
          <a:xfrm>
            <a:off x="11096625" y="3891915"/>
            <a:ext cx="664210" cy="6642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小米</a:t>
            </a:r>
          </a:p>
        </p:txBody>
      </p:sp>
      <p:sp>
        <p:nvSpPr>
          <p:cNvPr id="9" name="矩形 8"/>
          <p:cNvSpPr/>
          <p:nvPr/>
        </p:nvSpPr>
        <p:spPr>
          <a:xfrm>
            <a:off x="1917700" y="2085975"/>
            <a:ext cx="937895" cy="302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小米</a:t>
            </a:r>
          </a:p>
        </p:txBody>
      </p:sp>
      <p:sp>
        <p:nvSpPr>
          <p:cNvPr id="10" name="矩形 9"/>
          <p:cNvSpPr/>
          <p:nvPr/>
        </p:nvSpPr>
        <p:spPr>
          <a:xfrm>
            <a:off x="5616575" y="2085975"/>
            <a:ext cx="1283335" cy="302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天猫</a:t>
            </a:r>
          </a:p>
        </p:txBody>
      </p:sp>
      <p:sp>
        <p:nvSpPr>
          <p:cNvPr id="11" name="矩形 10"/>
          <p:cNvSpPr/>
          <p:nvPr/>
        </p:nvSpPr>
        <p:spPr>
          <a:xfrm>
            <a:off x="9509760" y="2085975"/>
            <a:ext cx="1283335" cy="302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联想</a:t>
            </a:r>
          </a:p>
        </p:txBody>
      </p:sp>
      <p:pic>
        <p:nvPicPr>
          <p:cNvPr id="12" name="图片 11"/>
          <p:cNvPicPr>
            <a:picLocks noChangeAspect="1"/>
          </p:cNvPicPr>
          <p:nvPr/>
        </p:nvPicPr>
        <p:blipFill>
          <a:blip r:embed="rId3"/>
          <a:srcRect l="4475" t="30303" r="2895" b="23879"/>
          <a:stretch>
            <a:fillRect/>
          </a:stretch>
        </p:blipFill>
        <p:spPr>
          <a:xfrm flipH="1">
            <a:off x="3032760" y="4919980"/>
            <a:ext cx="1016000" cy="363855"/>
          </a:xfrm>
          <a:prstGeom prst="rect">
            <a:avLst/>
          </a:prstGeom>
        </p:spPr>
      </p:pic>
      <p:pic>
        <p:nvPicPr>
          <p:cNvPr id="13" name="图片 12"/>
          <p:cNvPicPr>
            <a:picLocks noChangeAspect="1"/>
          </p:cNvPicPr>
          <p:nvPr/>
        </p:nvPicPr>
        <p:blipFill>
          <a:blip r:embed="rId3"/>
          <a:srcRect l="4475" t="30303" r="2895" b="23879"/>
          <a:stretch>
            <a:fillRect/>
          </a:stretch>
        </p:blipFill>
        <p:spPr>
          <a:xfrm flipH="1">
            <a:off x="3032760" y="5956300"/>
            <a:ext cx="1016000" cy="363855"/>
          </a:xfrm>
          <a:prstGeom prst="rect">
            <a:avLst/>
          </a:prstGeom>
        </p:spPr>
      </p:pic>
      <p:sp>
        <p:nvSpPr>
          <p:cNvPr id="14" name="矩形 13"/>
          <p:cNvSpPr/>
          <p:nvPr/>
        </p:nvSpPr>
        <p:spPr>
          <a:xfrm>
            <a:off x="5414645" y="191135"/>
            <a:ext cx="1629410" cy="375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76580" y="1104900"/>
            <a:ext cx="10953750" cy="5138420"/>
          </a:xfrm>
          <a:prstGeom prst="rect">
            <a:avLst/>
          </a:prstGeom>
          <a:solidFill>
            <a:srgbClr val="ED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 name="文本框 3"/>
          <p:cNvSpPr txBox="1"/>
          <p:nvPr/>
        </p:nvSpPr>
        <p:spPr>
          <a:xfrm>
            <a:off x="5209540" y="327660"/>
            <a:ext cx="1407160" cy="457200"/>
          </a:xfrm>
          <a:prstGeom prst="rect">
            <a:avLst/>
          </a:prstGeom>
          <a:noFill/>
        </p:spPr>
        <p:txBody>
          <a:bodyPr wrap="none" rtlCol="0">
            <a:spAutoFit/>
          </a:bodyPr>
          <a:lstStyle/>
          <a:p>
            <a:pPr algn="dist">
              <a:lnSpc>
                <a:spcPct val="100000"/>
              </a:lnSpc>
            </a:pPr>
            <a:r>
              <a:rPr lang="zh-CN" altLang="en-US" sz="2400" b="1"/>
              <a:t>解决方案</a:t>
            </a:r>
          </a:p>
        </p:txBody>
      </p:sp>
      <p:cxnSp>
        <p:nvCxnSpPr>
          <p:cNvPr id="5" name="直接连接符 4"/>
          <p:cNvCxnSpPr/>
          <p:nvPr/>
        </p:nvCxnSpPr>
        <p:spPr>
          <a:xfrm>
            <a:off x="5349875" y="706755"/>
            <a:ext cx="105156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16610" y="1401445"/>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tx1"/>
                </a:solidFill>
                <a:latin typeface="微软雅黑" panose="020B0503020204020204" charset="-122"/>
                <a:ea typeface="微软雅黑" panose="020B0503020204020204" charset="-122"/>
              </a:rPr>
              <a:t>家居物流解决方案</a:t>
            </a:r>
          </a:p>
        </p:txBody>
      </p:sp>
      <p:sp>
        <p:nvSpPr>
          <p:cNvPr id="7" name="矩形 6"/>
          <p:cNvSpPr/>
          <p:nvPr/>
        </p:nvSpPr>
        <p:spPr>
          <a:xfrm>
            <a:off x="4490720" y="1401445"/>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电商物流解决方案</a:t>
            </a:r>
          </a:p>
        </p:txBody>
      </p:sp>
      <p:sp>
        <p:nvSpPr>
          <p:cNvPr id="8" name="矩形 7"/>
          <p:cNvSpPr/>
          <p:nvPr/>
        </p:nvSpPr>
        <p:spPr>
          <a:xfrm>
            <a:off x="8156575" y="1401445"/>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家电物流解决方案</a:t>
            </a:r>
          </a:p>
        </p:txBody>
      </p:sp>
      <p:pic>
        <p:nvPicPr>
          <p:cNvPr id="9" name="图片 8"/>
          <p:cNvPicPr>
            <a:picLocks noChangeAspect="1"/>
          </p:cNvPicPr>
          <p:nvPr/>
        </p:nvPicPr>
        <p:blipFill>
          <a:blip r:embed="rId2"/>
          <a:stretch>
            <a:fillRect/>
          </a:stretch>
        </p:blipFill>
        <p:spPr>
          <a:xfrm>
            <a:off x="648970" y="6624320"/>
            <a:ext cx="10480675" cy="1720850"/>
          </a:xfrm>
          <a:prstGeom prst="rect">
            <a:avLst/>
          </a:prstGeom>
        </p:spPr>
      </p:pic>
      <p:sp>
        <p:nvSpPr>
          <p:cNvPr id="10" name="矩形 9"/>
          <p:cNvSpPr/>
          <p:nvPr/>
        </p:nvSpPr>
        <p:spPr>
          <a:xfrm>
            <a:off x="816610" y="2827020"/>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VMI物流解决方案</a:t>
            </a:r>
          </a:p>
        </p:txBody>
      </p:sp>
      <p:sp>
        <p:nvSpPr>
          <p:cNvPr id="11" name="矩形 10"/>
          <p:cNvSpPr/>
          <p:nvPr/>
        </p:nvSpPr>
        <p:spPr>
          <a:xfrm>
            <a:off x="4490720" y="2827020"/>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快消品物流解决方案</a:t>
            </a:r>
          </a:p>
        </p:txBody>
      </p:sp>
      <p:sp>
        <p:nvSpPr>
          <p:cNvPr id="12" name="矩形 11"/>
          <p:cNvSpPr/>
          <p:nvPr/>
        </p:nvSpPr>
        <p:spPr>
          <a:xfrm>
            <a:off x="8156575" y="2827020"/>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冷链物流解决方案</a:t>
            </a:r>
          </a:p>
        </p:txBody>
      </p:sp>
      <p:sp>
        <p:nvSpPr>
          <p:cNvPr id="14" name="矩形 13"/>
          <p:cNvSpPr/>
          <p:nvPr/>
        </p:nvSpPr>
        <p:spPr>
          <a:xfrm>
            <a:off x="816610" y="4307840"/>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3C电子物流解决方案</a:t>
            </a:r>
          </a:p>
        </p:txBody>
      </p:sp>
      <p:sp>
        <p:nvSpPr>
          <p:cNvPr id="15" name="矩形 14"/>
          <p:cNvSpPr/>
          <p:nvPr/>
        </p:nvSpPr>
        <p:spPr>
          <a:xfrm>
            <a:off x="4490720" y="4307840"/>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零担物流解决方案</a:t>
            </a:r>
          </a:p>
        </p:txBody>
      </p:sp>
      <p:sp>
        <p:nvSpPr>
          <p:cNvPr id="16" name="矩形 15"/>
          <p:cNvSpPr/>
          <p:nvPr/>
        </p:nvSpPr>
        <p:spPr>
          <a:xfrm>
            <a:off x="8156575" y="4307840"/>
            <a:ext cx="3059430" cy="127000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国际货代物流解决方案</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2980" y="3194050"/>
            <a:ext cx="10515600" cy="1325563"/>
          </a:xfrm>
        </p:spPr>
        <p:txBody>
          <a:bodyPr/>
          <a:lstStyle/>
          <a:p>
            <a:pPr algn="ctr"/>
            <a:r>
              <a:rPr lang="zh-CN" altLang="en-US" sz="4800" b="1" dirty="0"/>
              <a:t>以下是解决方案构思</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438594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r>
              <a:rPr lang="zh-CN" altLang="en-US">
                <a:solidFill>
                  <a:srgbClr val="FF0000"/>
                </a:solidFill>
              </a:rPr>
              <a:t>注：前面需配图</a:t>
            </a:r>
            <a:r>
              <a:rPr lang="zh-CN" altLang="en-US">
                <a:solidFill>
                  <a:schemeClr val="tx1"/>
                </a:solidFill>
              </a:rPr>
              <a:t>）</a:t>
            </a:r>
          </a:p>
        </p:txBody>
      </p:sp>
      <p:sp>
        <p:nvSpPr>
          <p:cNvPr id="8" name="文本框 7"/>
          <p:cNvSpPr txBox="1"/>
          <p:nvPr/>
        </p:nvSpPr>
        <p:spPr>
          <a:xfrm>
            <a:off x="2480310" y="1350010"/>
            <a:ext cx="1991360" cy="396240"/>
          </a:xfrm>
          <a:prstGeom prst="rect">
            <a:avLst/>
          </a:prstGeom>
          <a:noFill/>
        </p:spPr>
        <p:txBody>
          <a:bodyPr wrap="square" rtlCol="0">
            <a:spAutoFit/>
          </a:bodyPr>
          <a:lstStyle/>
          <a:p>
            <a:pPr algn="l"/>
            <a:r>
              <a:rPr lang="zh-CN" altLang="en-US" sz="2000" b="1"/>
              <a:t>服务简介</a:t>
            </a:r>
          </a:p>
        </p:txBody>
      </p:sp>
      <p:sp>
        <p:nvSpPr>
          <p:cNvPr id="9" name="文本框 8"/>
          <p:cNvSpPr txBox="1"/>
          <p:nvPr/>
        </p:nvSpPr>
        <p:spPr>
          <a:xfrm>
            <a:off x="2480310" y="1941830"/>
            <a:ext cx="8831580" cy="1463040"/>
          </a:xfrm>
          <a:prstGeom prst="rect">
            <a:avLst/>
          </a:prstGeom>
          <a:noFill/>
        </p:spPr>
        <p:txBody>
          <a:bodyPr wrap="square" rtlCol="0">
            <a:spAutoFit/>
          </a:bodyPr>
          <a:lstStyle/>
          <a:p>
            <a:r>
              <a:rPr lang="zh-CN" altLang="en-US"/>
              <a:t>家居物流服务平台是日日顺物流的全资子公司，是目前国内最大的第三方专业家居物流服务平台。平台致力于提供家居行业的物流服务解决方案，具备为家具、卫浴、泛家居等家居行业提供专业的干线运输、仓储管理、同城配送、上门安装、维修保养等一体化服务。</a:t>
            </a:r>
          </a:p>
          <a:p>
            <a:r>
              <a:rPr lang="zh-CN" altLang="en-US"/>
              <a:t>目前服务网络已经覆盖全国2800多个区县，年服务用户超过百万。</a:t>
            </a:r>
          </a:p>
        </p:txBody>
      </p:sp>
      <p:graphicFrame>
        <p:nvGraphicFramePr>
          <p:cNvPr id="17" name="对象 16"/>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1050" r:id="rId4" imgW="1495425" imgH="4943475" progId="Paint.Picture">
                  <p:embed/>
                </p:oleObj>
              </mc:Choice>
              <mc:Fallback>
                <p:oleObj r:id="rId4" imgW="1495425" imgH="4943475" progId="Paint.Picture">
                  <p:embed/>
                  <p:pic>
                    <p:nvPicPr>
                      <p:cNvPr id="0" name="图片 17"/>
                      <p:cNvPicPr/>
                      <p:nvPr/>
                    </p:nvPicPr>
                    <p:blipFill>
                      <a:blip r:embed="rId5"/>
                    </p:blipFill>
                    <p:spPr>
                      <a:xfrm>
                        <a:off x="661670" y="1090930"/>
                        <a:ext cx="1496695" cy="4947285"/>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438594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r>
              <a:rPr lang="zh-CN" altLang="en-US">
                <a:solidFill>
                  <a:srgbClr val="FF0000"/>
                </a:solidFill>
              </a:rPr>
              <a:t>注：前面需配图</a:t>
            </a:r>
            <a:r>
              <a:rPr lang="zh-CN" altLang="en-US">
                <a:solidFill>
                  <a:schemeClr val="tx1"/>
                </a:solidFill>
              </a:rPr>
              <a:t>）</a:t>
            </a:r>
          </a:p>
        </p:txBody>
      </p:sp>
      <p:sp>
        <p:nvSpPr>
          <p:cNvPr id="8" name="文本框 7"/>
          <p:cNvSpPr txBox="1"/>
          <p:nvPr/>
        </p:nvSpPr>
        <p:spPr>
          <a:xfrm>
            <a:off x="2480310" y="1350010"/>
            <a:ext cx="1991360" cy="396240"/>
          </a:xfrm>
          <a:prstGeom prst="rect">
            <a:avLst/>
          </a:prstGeom>
          <a:noFill/>
        </p:spPr>
        <p:txBody>
          <a:bodyPr wrap="square" rtlCol="0">
            <a:spAutoFit/>
          </a:bodyPr>
          <a:lstStyle/>
          <a:p>
            <a:pPr algn="l"/>
            <a:r>
              <a:rPr lang="zh-CN" altLang="en-US" sz="2000" b="1"/>
              <a:t>核心优势</a:t>
            </a:r>
          </a:p>
        </p:txBody>
      </p:sp>
      <p:pic>
        <p:nvPicPr>
          <p:cNvPr id="2" name="图片 1"/>
          <p:cNvPicPr>
            <a:picLocks noChangeAspect="1"/>
          </p:cNvPicPr>
          <p:nvPr/>
        </p:nvPicPr>
        <p:blipFill>
          <a:blip r:embed="rId4"/>
          <a:stretch>
            <a:fillRect/>
          </a:stretch>
        </p:blipFill>
        <p:spPr>
          <a:xfrm>
            <a:off x="2404110" y="1955165"/>
            <a:ext cx="2809240" cy="4676140"/>
          </a:xfrm>
          <a:prstGeom prst="rect">
            <a:avLst/>
          </a:prstGeom>
        </p:spPr>
      </p:pic>
      <p:pic>
        <p:nvPicPr>
          <p:cNvPr id="3" name="图片 2"/>
          <p:cNvPicPr>
            <a:picLocks noChangeAspect="1"/>
          </p:cNvPicPr>
          <p:nvPr/>
        </p:nvPicPr>
        <p:blipFill>
          <a:blip r:embed="rId4"/>
          <a:stretch>
            <a:fillRect/>
          </a:stretch>
        </p:blipFill>
        <p:spPr>
          <a:xfrm>
            <a:off x="5338445" y="1955165"/>
            <a:ext cx="2809240" cy="4676140"/>
          </a:xfrm>
          <a:prstGeom prst="rect">
            <a:avLst/>
          </a:prstGeom>
        </p:spPr>
      </p:pic>
      <p:pic>
        <p:nvPicPr>
          <p:cNvPr id="10" name="图片 9"/>
          <p:cNvPicPr>
            <a:picLocks noChangeAspect="1"/>
          </p:cNvPicPr>
          <p:nvPr/>
        </p:nvPicPr>
        <p:blipFill>
          <a:blip r:embed="rId4"/>
          <a:stretch>
            <a:fillRect/>
          </a:stretch>
        </p:blipFill>
        <p:spPr>
          <a:xfrm>
            <a:off x="8272780" y="1955165"/>
            <a:ext cx="2809240" cy="4676140"/>
          </a:xfrm>
          <a:prstGeom prst="rect">
            <a:avLst/>
          </a:prstGeom>
        </p:spPr>
      </p:pic>
      <p:sp>
        <p:nvSpPr>
          <p:cNvPr id="11" name="文本框 10"/>
          <p:cNvSpPr txBox="1"/>
          <p:nvPr/>
        </p:nvSpPr>
        <p:spPr>
          <a:xfrm>
            <a:off x="3260090" y="5793740"/>
            <a:ext cx="1102360" cy="365760"/>
          </a:xfrm>
          <a:prstGeom prst="rect">
            <a:avLst/>
          </a:prstGeom>
          <a:noFill/>
        </p:spPr>
        <p:txBody>
          <a:bodyPr wrap="none" rtlCol="0">
            <a:spAutoFit/>
          </a:bodyPr>
          <a:lstStyle/>
          <a:p>
            <a:pPr algn="l"/>
            <a:r>
              <a:rPr lang="zh-CN" altLang="en-US" b="1">
                <a:solidFill>
                  <a:schemeClr val="bg1"/>
                </a:solidFill>
              </a:rPr>
              <a:t>五包服务</a:t>
            </a:r>
          </a:p>
        </p:txBody>
      </p:sp>
      <p:sp>
        <p:nvSpPr>
          <p:cNvPr id="12" name="文本框 11"/>
          <p:cNvSpPr txBox="1"/>
          <p:nvPr/>
        </p:nvSpPr>
        <p:spPr>
          <a:xfrm>
            <a:off x="6194425" y="5793740"/>
            <a:ext cx="1102360" cy="365760"/>
          </a:xfrm>
          <a:prstGeom prst="rect">
            <a:avLst/>
          </a:prstGeom>
          <a:noFill/>
        </p:spPr>
        <p:txBody>
          <a:bodyPr wrap="none" rtlCol="0">
            <a:spAutoFit/>
          </a:bodyPr>
          <a:lstStyle/>
          <a:p>
            <a:pPr algn="l"/>
            <a:r>
              <a:rPr lang="zh-CN" altLang="en-US" b="1">
                <a:solidFill>
                  <a:schemeClr val="bg1"/>
                </a:solidFill>
              </a:rPr>
              <a:t>送装同步</a:t>
            </a:r>
          </a:p>
        </p:txBody>
      </p:sp>
      <p:sp>
        <p:nvSpPr>
          <p:cNvPr id="13" name="文本框 12"/>
          <p:cNvSpPr txBox="1"/>
          <p:nvPr/>
        </p:nvSpPr>
        <p:spPr>
          <a:xfrm>
            <a:off x="9128760" y="5793740"/>
            <a:ext cx="1102360" cy="365760"/>
          </a:xfrm>
          <a:prstGeom prst="rect">
            <a:avLst/>
          </a:prstGeom>
          <a:noFill/>
        </p:spPr>
        <p:txBody>
          <a:bodyPr wrap="none" rtlCol="0">
            <a:spAutoFit/>
          </a:bodyPr>
          <a:lstStyle/>
          <a:p>
            <a:pPr algn="l"/>
            <a:r>
              <a:rPr lang="zh-CN" altLang="en-US" b="1">
                <a:solidFill>
                  <a:schemeClr val="bg1"/>
                </a:solidFill>
              </a:rPr>
              <a:t>按约送达</a:t>
            </a:r>
          </a:p>
        </p:txBody>
      </p:sp>
      <p:sp>
        <p:nvSpPr>
          <p:cNvPr id="14" name="文本框 13"/>
          <p:cNvSpPr txBox="1"/>
          <p:nvPr/>
        </p:nvSpPr>
        <p:spPr>
          <a:xfrm>
            <a:off x="2705100" y="2327910"/>
            <a:ext cx="2178685" cy="3322320"/>
          </a:xfrm>
          <a:prstGeom prst="rect">
            <a:avLst/>
          </a:prstGeom>
          <a:noFill/>
        </p:spPr>
        <p:txBody>
          <a:bodyPr wrap="square" rtlCol="0">
            <a:spAutoFit/>
          </a:bodyPr>
          <a:lstStyle/>
          <a:p>
            <a:pPr algn="ctr"/>
            <a:r>
              <a:rPr lang="zh-CN" altLang="en-US" b="1"/>
              <a:t>家居电商物流</a:t>
            </a:r>
          </a:p>
          <a:p>
            <a:pPr algn="ctr"/>
            <a:r>
              <a:rPr lang="zh-CN" altLang="en-US" b="1"/>
              <a:t>五包服务</a:t>
            </a:r>
          </a:p>
          <a:p>
            <a:r>
              <a:rPr lang="zh-CN" altLang="en-US" sz="1600"/>
              <a:t>       佛山、成都、北京、苏州等9个城市设立专业家居电商物流集配中心</a:t>
            </a:r>
          </a:p>
          <a:p>
            <a:r>
              <a:rPr lang="zh-CN" altLang="en-US" sz="1600"/>
              <a:t>       提供从物流集配中心发往全国各区域的干线运输、支线配送、搬运上楼、专业安装、售后维修五项服务一体化的全流程解决方案</a:t>
            </a:r>
          </a:p>
        </p:txBody>
      </p:sp>
      <p:sp>
        <p:nvSpPr>
          <p:cNvPr id="15" name="文本框 14"/>
          <p:cNvSpPr txBox="1"/>
          <p:nvPr/>
        </p:nvSpPr>
        <p:spPr>
          <a:xfrm>
            <a:off x="5615305" y="2327910"/>
            <a:ext cx="2178685" cy="3081020"/>
          </a:xfrm>
          <a:prstGeom prst="rect">
            <a:avLst/>
          </a:prstGeom>
          <a:noFill/>
        </p:spPr>
        <p:txBody>
          <a:bodyPr wrap="square" rtlCol="0">
            <a:spAutoFit/>
          </a:bodyPr>
          <a:lstStyle/>
          <a:p>
            <a:pPr algn="ctr"/>
            <a:r>
              <a:rPr lang="zh-CN" altLang="en-US" b="1"/>
              <a:t>最后 1KM</a:t>
            </a:r>
          </a:p>
          <a:p>
            <a:pPr algn="ctr"/>
            <a:r>
              <a:rPr lang="zh-CN" altLang="en-US" b="1"/>
              <a:t>送装同步服务</a:t>
            </a:r>
          </a:p>
          <a:p>
            <a:r>
              <a:rPr lang="zh-CN" altLang="en-US" sz="1600"/>
              <a:t>       依托全国各地上百家自建网络，超过上千家加盟网络以及共享服务商和社会化专业服务兵资源，实现全国无空白网络，服务无盲区，为需要落地配的客户提供最后1KM，送装同步服务解决方案</a:t>
            </a:r>
          </a:p>
        </p:txBody>
      </p:sp>
      <p:sp>
        <p:nvSpPr>
          <p:cNvPr id="16" name="文本框 15"/>
          <p:cNvSpPr txBox="1"/>
          <p:nvPr/>
        </p:nvSpPr>
        <p:spPr>
          <a:xfrm>
            <a:off x="8571865" y="2327910"/>
            <a:ext cx="2178685" cy="3078480"/>
          </a:xfrm>
          <a:prstGeom prst="rect">
            <a:avLst/>
          </a:prstGeom>
          <a:noFill/>
        </p:spPr>
        <p:txBody>
          <a:bodyPr wrap="square" rtlCol="0">
            <a:spAutoFit/>
          </a:bodyPr>
          <a:lstStyle/>
          <a:p>
            <a:pPr algn="ctr"/>
            <a:r>
              <a:rPr lang="zh-CN" altLang="en-US" b="1"/>
              <a:t>仓配一体化</a:t>
            </a:r>
          </a:p>
          <a:p>
            <a:pPr algn="ctr"/>
            <a:r>
              <a:rPr lang="zh-CN" altLang="en-US" b="1"/>
              <a:t>按约送达服务</a:t>
            </a:r>
          </a:p>
          <a:p>
            <a:r>
              <a:rPr lang="zh-CN" altLang="en-US" sz="1600"/>
              <a:t>       依托日日顺物流TC库及服务商的仓库资源</a:t>
            </a:r>
          </a:p>
          <a:p>
            <a:r>
              <a:rPr lang="zh-CN" altLang="en-US" sz="1600"/>
              <a:t>      为商家提供仓储管理及配送安装一体化服务</a:t>
            </a:r>
          </a:p>
          <a:p>
            <a:r>
              <a:rPr lang="zh-CN" altLang="en-US" sz="1600"/>
              <a:t>      帮助商家实现按照用户约定送货上门并安装到位的家居物流服务</a:t>
            </a:r>
          </a:p>
        </p:txBody>
      </p:sp>
      <p:sp>
        <p:nvSpPr>
          <p:cNvPr id="17" name="文本框 16">
            <a:hlinkClick r:id="rId5" action="ppaction://hlinkfile"/>
          </p:cNvPr>
          <p:cNvSpPr txBox="1"/>
          <p:nvPr/>
        </p:nvSpPr>
        <p:spPr>
          <a:xfrm>
            <a:off x="8542020" y="218440"/>
            <a:ext cx="2540000" cy="642620"/>
          </a:xfrm>
          <a:prstGeom prst="rect">
            <a:avLst/>
          </a:prstGeom>
          <a:noFill/>
        </p:spPr>
        <p:txBody>
          <a:bodyPr wrap="square" rtlCol="0" anchor="t">
            <a:spAutoFit/>
          </a:bodyPr>
          <a:lstStyle/>
          <a:p>
            <a:r>
              <a:rPr lang="zh-CN" altLang="en-US">
                <a:hlinkClick r:id="rId5" action="ppaction://hlinkfile"/>
              </a:rPr>
              <a:t>https://www.qcloud.com/solution/game.html</a:t>
            </a:r>
            <a:endParaRPr lang="zh-CN" altLang="en-US"/>
          </a:p>
        </p:txBody>
      </p:sp>
      <p:graphicFrame>
        <p:nvGraphicFramePr>
          <p:cNvPr id="18" name="对象 17"/>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2074" r:id="rId6" imgW="1495425" imgH="4943475" progId="Paint.Picture">
                  <p:embed/>
                </p:oleObj>
              </mc:Choice>
              <mc:Fallback>
                <p:oleObj r:id="rId6" imgW="1495425" imgH="4943475" progId="Paint.Picture">
                  <p:embed/>
                  <p:pic>
                    <p:nvPicPr>
                      <p:cNvPr id="0" name="图片 17"/>
                      <p:cNvPicPr/>
                      <p:nvPr/>
                    </p:nvPicPr>
                    <p:blipFill>
                      <a:blip r:embed="rId7"/>
                    </p:blipFill>
                    <p:spPr>
                      <a:xfrm>
                        <a:off x="661670" y="1090930"/>
                        <a:ext cx="1496695" cy="4947285"/>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438594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r>
              <a:rPr lang="zh-CN" altLang="en-US">
                <a:solidFill>
                  <a:srgbClr val="FF0000"/>
                </a:solidFill>
              </a:rPr>
              <a:t>注：前面需配图</a:t>
            </a:r>
            <a:r>
              <a:rPr lang="zh-CN" altLang="en-US">
                <a:solidFill>
                  <a:schemeClr val="tx1"/>
                </a:solidFill>
              </a:rPr>
              <a:t>）</a:t>
            </a:r>
          </a:p>
        </p:txBody>
      </p:sp>
      <p:sp>
        <p:nvSpPr>
          <p:cNvPr id="8" name="文本框 7"/>
          <p:cNvSpPr txBox="1"/>
          <p:nvPr/>
        </p:nvSpPr>
        <p:spPr>
          <a:xfrm>
            <a:off x="2480310" y="1350010"/>
            <a:ext cx="1991360" cy="396240"/>
          </a:xfrm>
          <a:prstGeom prst="rect">
            <a:avLst/>
          </a:prstGeom>
          <a:noFill/>
        </p:spPr>
        <p:txBody>
          <a:bodyPr wrap="square" rtlCol="0">
            <a:spAutoFit/>
          </a:bodyPr>
          <a:lstStyle/>
          <a:p>
            <a:pPr algn="l"/>
            <a:r>
              <a:rPr lang="zh-CN" altLang="en-US" sz="2000" b="1"/>
              <a:t>服务范围</a:t>
            </a:r>
          </a:p>
        </p:txBody>
      </p:sp>
      <p:pic>
        <p:nvPicPr>
          <p:cNvPr id="9" name="图片 8" descr="xxxxxxxx"/>
          <p:cNvPicPr>
            <a:picLocks noChangeAspect="1"/>
          </p:cNvPicPr>
          <p:nvPr/>
        </p:nvPicPr>
        <p:blipFill>
          <a:blip r:embed="rId4"/>
          <a:stretch>
            <a:fillRect/>
          </a:stretch>
        </p:blipFill>
        <p:spPr>
          <a:xfrm>
            <a:off x="5176520" y="1852930"/>
            <a:ext cx="6276340" cy="4504690"/>
          </a:xfrm>
          <a:prstGeom prst="rect">
            <a:avLst/>
          </a:prstGeom>
        </p:spPr>
      </p:pic>
      <p:graphicFrame>
        <p:nvGraphicFramePr>
          <p:cNvPr id="245" name="表格 244"/>
          <p:cNvGraphicFramePr>
            <a:graphicFrameLocks noGrp="1"/>
          </p:cNvGraphicFramePr>
          <p:nvPr/>
        </p:nvGraphicFramePr>
        <p:xfrm>
          <a:off x="2193290" y="1950720"/>
          <a:ext cx="2565400" cy="4309110"/>
        </p:xfrm>
        <a:graphic>
          <a:graphicData uri="http://schemas.openxmlformats.org/drawingml/2006/table">
            <a:tbl>
              <a:tblPr firstRow="1" bandRow="1">
                <a:tableStyleId>{5C22544A-7EE6-4342-B048-85BDC9FD1C3A}</a:tableStyleId>
              </a:tblPr>
              <a:tblGrid>
                <a:gridCol w="855345">
                  <a:extLst>
                    <a:ext uri="{9D8B030D-6E8A-4147-A177-3AD203B41FA5}">
                      <a16:colId xmlns:a16="http://schemas.microsoft.com/office/drawing/2014/main" val="20000"/>
                    </a:ext>
                  </a:extLst>
                </a:gridCol>
                <a:gridCol w="854710">
                  <a:extLst>
                    <a:ext uri="{9D8B030D-6E8A-4147-A177-3AD203B41FA5}">
                      <a16:colId xmlns:a16="http://schemas.microsoft.com/office/drawing/2014/main" val="20001"/>
                    </a:ext>
                  </a:extLst>
                </a:gridCol>
                <a:gridCol w="855345">
                  <a:extLst>
                    <a:ext uri="{9D8B030D-6E8A-4147-A177-3AD203B41FA5}">
                      <a16:colId xmlns:a16="http://schemas.microsoft.com/office/drawing/2014/main" val="20002"/>
                    </a:ext>
                  </a:extLst>
                </a:gridCol>
              </a:tblGrid>
              <a:tr h="391795">
                <a:tc>
                  <a:txBody>
                    <a:bodyPr/>
                    <a:lstStyle/>
                    <a:p>
                      <a:pPr algn="ctr" rtl="0" fontAlgn="ctr"/>
                      <a:r>
                        <a:rPr lang="zh-CN" altLang="en-US" sz="900" b="1" i="0" u="none" strike="noStrike" dirty="0">
                          <a:solidFill>
                            <a:srgbClr val="000000"/>
                          </a:solidFill>
                          <a:latin typeface="微软雅黑" panose="020B0503020204020204" charset="-122"/>
                          <a:ea typeface="微软雅黑" panose="020B0503020204020204" charset="-122"/>
                        </a:rPr>
                        <a:t>基地</a:t>
                      </a:r>
                    </a:p>
                  </a:txBody>
                  <a:tcPr marL="5715" marR="5715" marT="5714" marB="0" anchor="ctr"/>
                </a:tc>
                <a:tc>
                  <a:txBody>
                    <a:bodyPr/>
                    <a:lstStyle/>
                    <a:p>
                      <a:pPr algn="ctr" rtl="0" fontAlgn="ctr"/>
                      <a:r>
                        <a:rPr lang="zh-CN" altLang="en-US" sz="900" b="1" i="0" u="none" strike="noStrike" dirty="0">
                          <a:solidFill>
                            <a:srgbClr val="000000"/>
                          </a:solidFill>
                          <a:latin typeface="微软雅黑" panose="020B0503020204020204" charset="-122"/>
                          <a:ea typeface="微软雅黑" panose="020B0503020204020204" charset="-122"/>
                        </a:rPr>
                        <a:t>在装车辆</a:t>
                      </a:r>
                    </a:p>
                  </a:txBody>
                  <a:tcPr marL="5715" marR="5715" marT="5714" marB="0" anchor="ctr"/>
                </a:tc>
                <a:tc>
                  <a:txBody>
                    <a:bodyPr/>
                    <a:lstStyle/>
                    <a:p>
                      <a:pPr algn="ctr" rtl="0" fontAlgn="ctr"/>
                      <a:r>
                        <a:rPr lang="zh-CN" altLang="en-US" sz="900" b="1" i="0" u="none" strike="noStrike" dirty="0">
                          <a:solidFill>
                            <a:srgbClr val="000000"/>
                          </a:solidFill>
                          <a:latin typeface="微软雅黑" panose="020B0503020204020204" charset="-122"/>
                          <a:ea typeface="微软雅黑" panose="020B0503020204020204" charset="-122"/>
                        </a:rPr>
                        <a:t>在途车辆</a:t>
                      </a:r>
                    </a:p>
                  </a:txBody>
                  <a:tcPr marL="5715" marR="5715" marT="5714" marB="0" anchor="ctr"/>
                </a:tc>
                <a:extLst>
                  <a:ext uri="{0D108BD9-81ED-4DB2-BD59-A6C34878D82A}">
                    <a16:rowId xmlns:a16="http://schemas.microsoft.com/office/drawing/2014/main" val="10000"/>
                  </a:ext>
                </a:extLst>
              </a:tr>
              <a:tr h="392430">
                <a:tc>
                  <a:txBody>
                    <a:bodyPr/>
                    <a:lstStyle/>
                    <a:p>
                      <a:pPr algn="ctr" fontAlgn="ctr"/>
                      <a:r>
                        <a:rPr lang="zh-CN" altLang="en-US" sz="800" b="0" i="0" u="none" strike="noStrike" dirty="0">
                          <a:solidFill>
                            <a:srgbClr val="000000"/>
                          </a:solidFill>
                          <a:latin typeface="微软雅黑" panose="020B0503020204020204" charset="-122"/>
                          <a:ea typeface="微软雅黑" panose="020B0503020204020204" charset="-122"/>
                        </a:rPr>
                        <a:t>青岛基地</a:t>
                      </a:r>
                    </a:p>
                  </a:txBody>
                  <a:tcPr marL="5715" marR="5715" marT="5714" marB="0" anchor="ct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30</a:t>
                      </a:r>
                    </a:p>
                  </a:txBody>
                  <a:tcPr marL="5715" marR="5715" marT="5714" marB="0" anchor="ct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23</a:t>
                      </a:r>
                    </a:p>
                  </a:txBody>
                  <a:tcPr marL="5715" marR="5715" marT="5714" marB="0" anchor="ctr"/>
                </a:tc>
                <a:extLst>
                  <a:ext uri="{0D108BD9-81ED-4DB2-BD59-A6C34878D82A}">
                    <a16:rowId xmlns:a16="http://schemas.microsoft.com/office/drawing/2014/main" val="10001"/>
                  </a:ext>
                </a:extLst>
              </a:tr>
              <a:tr h="391795">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佛山基地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20</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22</a:t>
                      </a:r>
                    </a:p>
                  </a:txBody>
                  <a:tcPr marL="5715" marR="5715" marT="5714" marB="0" anchor="ctr"/>
                </a:tc>
                <a:extLst>
                  <a:ext uri="{0D108BD9-81ED-4DB2-BD59-A6C34878D82A}">
                    <a16:rowId xmlns:a16="http://schemas.microsoft.com/office/drawing/2014/main" val="10002"/>
                  </a:ext>
                </a:extLst>
              </a:tr>
              <a:tr h="391160">
                <a:tc>
                  <a:txBody>
                    <a:bodyPr/>
                    <a:lstStyle/>
                    <a:p>
                      <a:pPr algn="ctr" fontAlgn="ctr"/>
                      <a:r>
                        <a:rPr lang="zh-CN" altLang="en-US" sz="800" b="0" i="0" u="none" strike="noStrike" dirty="0">
                          <a:solidFill>
                            <a:srgbClr val="000000"/>
                          </a:solidFill>
                          <a:latin typeface="微软雅黑" panose="020B0503020204020204" charset="-122"/>
                          <a:ea typeface="微软雅黑" panose="020B0503020204020204" charset="-122"/>
                        </a:rPr>
                        <a:t>重庆基地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11</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a:t>
                      </a:r>
                    </a:p>
                  </a:txBody>
                  <a:tcPr marL="5715" marR="5715" marT="5714" marB="0" anchor="ctr"/>
                </a:tc>
                <a:extLst>
                  <a:ext uri="{0D108BD9-81ED-4DB2-BD59-A6C34878D82A}">
                    <a16:rowId xmlns:a16="http://schemas.microsoft.com/office/drawing/2014/main" val="10003"/>
                  </a:ext>
                </a:extLst>
              </a:tr>
              <a:tr h="391795">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合肥基地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a:t>
                      </a:r>
                    </a:p>
                  </a:txBody>
                  <a:tcPr marL="5715" marR="5715" marT="5714" marB="0" anchor="ctr"/>
                </a:tc>
                <a:extLst>
                  <a:ext uri="{0D108BD9-81ED-4DB2-BD59-A6C34878D82A}">
                    <a16:rowId xmlns:a16="http://schemas.microsoft.com/office/drawing/2014/main" val="10004"/>
                  </a:ext>
                </a:extLst>
              </a:tr>
              <a:tr h="391160">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遵义基地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11</a:t>
                      </a:r>
                    </a:p>
                  </a:txBody>
                  <a:tcPr marL="5715" marR="5715" marT="5714" marB="0" anchor="ctr"/>
                </a:tc>
                <a:extLst>
                  <a:ext uri="{0D108BD9-81ED-4DB2-BD59-A6C34878D82A}">
                    <a16:rowId xmlns:a16="http://schemas.microsoft.com/office/drawing/2014/main" val="10005"/>
                  </a:ext>
                </a:extLst>
              </a:tr>
              <a:tr h="393065">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沈阳基地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6</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22</a:t>
                      </a:r>
                    </a:p>
                  </a:txBody>
                  <a:tcPr marL="5715" marR="5715" marT="5714" marB="0" anchor="ctr"/>
                </a:tc>
                <a:extLst>
                  <a:ext uri="{0D108BD9-81ED-4DB2-BD59-A6C34878D82A}">
                    <a16:rowId xmlns:a16="http://schemas.microsoft.com/office/drawing/2014/main" val="10006"/>
                  </a:ext>
                </a:extLst>
              </a:tr>
              <a:tr h="391160">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郑州基地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7</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34</a:t>
                      </a:r>
                    </a:p>
                  </a:txBody>
                  <a:tcPr marL="5715" marR="5715" marT="5714" marB="0" anchor="ctr"/>
                </a:tc>
                <a:extLst>
                  <a:ext uri="{0D108BD9-81ED-4DB2-BD59-A6C34878D82A}">
                    <a16:rowId xmlns:a16="http://schemas.microsoft.com/office/drawing/2014/main" val="10007"/>
                  </a:ext>
                </a:extLst>
              </a:tr>
              <a:tr h="391795">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慈溪基地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8</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56</a:t>
                      </a:r>
                    </a:p>
                  </a:txBody>
                  <a:tcPr marL="5715" marR="5715" marT="5714" marB="0" anchor="ctr"/>
                </a:tc>
                <a:extLst>
                  <a:ext uri="{0D108BD9-81ED-4DB2-BD59-A6C34878D82A}">
                    <a16:rowId xmlns:a16="http://schemas.microsoft.com/office/drawing/2014/main" val="10008"/>
                  </a:ext>
                </a:extLst>
              </a:tr>
              <a:tr h="391160">
                <a:tc>
                  <a:txBody>
                    <a:bodyPr/>
                    <a:lstStyle/>
                    <a:p>
                      <a:pPr algn="ctr" fontAlgn="ctr"/>
                      <a:r>
                        <a:rPr lang="zh-CN" altLang="en-US" sz="800" b="0" i="0" u="none" strike="noStrike">
                          <a:solidFill>
                            <a:srgbClr val="000000"/>
                          </a:solidFill>
                          <a:latin typeface="微软雅黑" panose="020B0503020204020204" charset="-122"/>
                          <a:ea typeface="微软雅黑" panose="020B0503020204020204" charset="-122"/>
                        </a:rPr>
                        <a:t>武汉基地</a:t>
                      </a:r>
                    </a:p>
                  </a:txBody>
                  <a:tcPr marL="5715" marR="5715" marT="5714" marB="0" anchor="ct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9</a:t>
                      </a:r>
                    </a:p>
                  </a:txBody>
                  <a:tcPr marL="5715" marR="5715" marT="5714" marB="0" anchor="ct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7</a:t>
                      </a:r>
                    </a:p>
                  </a:txBody>
                  <a:tcPr marL="5715" marR="5715" marT="5714" marB="0" anchor="ctr"/>
                </a:tc>
                <a:extLst>
                  <a:ext uri="{0D108BD9-81ED-4DB2-BD59-A6C34878D82A}">
                    <a16:rowId xmlns:a16="http://schemas.microsoft.com/office/drawing/2014/main" val="10009"/>
                  </a:ext>
                </a:extLst>
              </a:tr>
              <a:tr h="391795">
                <a:tc>
                  <a:txBody>
                    <a:bodyPr/>
                    <a:lstStyle/>
                    <a:p>
                      <a:pPr algn="ctr" fontAlgn="ctr"/>
                      <a:r>
                        <a:rPr lang="zh-CN" altLang="en-US" sz="800" b="1" i="0" u="none" strike="noStrike">
                          <a:solidFill>
                            <a:srgbClr val="000000"/>
                          </a:solidFill>
                          <a:latin typeface="微软雅黑" panose="020B0503020204020204" charset="-122"/>
                          <a:ea typeface="微软雅黑" panose="020B0503020204020204" charset="-122"/>
                        </a:rPr>
                        <a:t>总计</a:t>
                      </a:r>
                    </a:p>
                  </a:txBody>
                  <a:tcPr marL="5715" marR="5715" marT="5714" marB="0" anchor="ctr"/>
                </a:tc>
                <a:tc>
                  <a:txBody>
                    <a:bodyPr/>
                    <a:lstStyle/>
                    <a:p>
                      <a:pPr algn="ctr" fontAlgn="ctr"/>
                      <a:r>
                        <a:rPr lang="en-US" altLang="zh-CN" sz="800" b="1" i="0" u="none" strike="noStrike" dirty="0">
                          <a:solidFill>
                            <a:srgbClr val="000000"/>
                          </a:solidFill>
                          <a:latin typeface="微软雅黑" panose="020B0503020204020204" charset="-122"/>
                          <a:ea typeface="微软雅黑" panose="020B0503020204020204" charset="-122"/>
                        </a:rPr>
                        <a:t>98</a:t>
                      </a:r>
                    </a:p>
                  </a:txBody>
                  <a:tcPr marL="5715" marR="5715" marT="5714" marB="0" anchor="ctr"/>
                </a:tc>
                <a:tc>
                  <a:txBody>
                    <a:bodyPr/>
                    <a:lstStyle/>
                    <a:p>
                      <a:pPr algn="ctr" fontAlgn="ctr"/>
                      <a:r>
                        <a:rPr lang="en-US" altLang="zh-CN" sz="800" b="1" i="0" u="none" strike="noStrike" dirty="0">
                          <a:solidFill>
                            <a:srgbClr val="000000"/>
                          </a:solidFill>
                          <a:latin typeface="微软雅黑" panose="020B0503020204020204" charset="-122"/>
                          <a:ea typeface="微软雅黑" panose="020B0503020204020204" charset="-122"/>
                        </a:rPr>
                        <a:t>177</a:t>
                      </a:r>
                    </a:p>
                  </a:txBody>
                  <a:tcPr marL="5715" marR="5715" marT="5714" marB="0" anchor="ctr"/>
                </a:tc>
                <a:extLst>
                  <a:ext uri="{0D108BD9-81ED-4DB2-BD59-A6C34878D82A}">
                    <a16:rowId xmlns:a16="http://schemas.microsoft.com/office/drawing/2014/main" val="10010"/>
                  </a:ext>
                </a:extLst>
              </a:tr>
            </a:tbl>
          </a:graphicData>
        </a:graphic>
      </p:graphicFrame>
      <p:graphicFrame>
        <p:nvGraphicFramePr>
          <p:cNvPr id="18" name="对象 17"/>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3098" r:id="rId5" imgW="1495425" imgH="4943475" progId="Paint.Picture">
                  <p:embed/>
                </p:oleObj>
              </mc:Choice>
              <mc:Fallback>
                <p:oleObj r:id="rId5" imgW="1495425" imgH="4943475" progId="Paint.Picture">
                  <p:embed/>
                  <p:pic>
                    <p:nvPicPr>
                      <p:cNvPr id="0" name="图片 17"/>
                      <p:cNvPicPr/>
                      <p:nvPr/>
                    </p:nvPicPr>
                    <p:blipFill>
                      <a:blip r:embed="rId6"/>
                    </p:blipFill>
                    <p:spPr>
                      <a:xfrm>
                        <a:off x="661670" y="1090930"/>
                        <a:ext cx="1496695" cy="4947285"/>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261937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p>
        </p:txBody>
      </p:sp>
      <p:sp>
        <p:nvSpPr>
          <p:cNvPr id="8" name="文本框 7"/>
          <p:cNvSpPr txBox="1"/>
          <p:nvPr/>
        </p:nvSpPr>
        <p:spPr>
          <a:xfrm>
            <a:off x="2404110" y="1330960"/>
            <a:ext cx="1991360" cy="396240"/>
          </a:xfrm>
          <a:prstGeom prst="rect">
            <a:avLst/>
          </a:prstGeom>
          <a:noFill/>
        </p:spPr>
        <p:txBody>
          <a:bodyPr wrap="square" rtlCol="0">
            <a:spAutoFit/>
          </a:bodyPr>
          <a:lstStyle/>
          <a:p>
            <a:pPr algn="l"/>
            <a:r>
              <a:rPr lang="zh-CN" altLang="en-US" sz="2000" b="1"/>
              <a:t>配送方式</a:t>
            </a:r>
          </a:p>
        </p:txBody>
      </p:sp>
      <p:sp>
        <p:nvSpPr>
          <p:cNvPr id="3" name="文本框 2"/>
          <p:cNvSpPr txBox="1"/>
          <p:nvPr/>
        </p:nvSpPr>
        <p:spPr>
          <a:xfrm>
            <a:off x="2480310" y="1941830"/>
            <a:ext cx="8831580" cy="365760"/>
          </a:xfrm>
          <a:prstGeom prst="rect">
            <a:avLst/>
          </a:prstGeom>
          <a:noFill/>
        </p:spPr>
        <p:txBody>
          <a:bodyPr wrap="square" rtlCol="0">
            <a:spAutoFit/>
          </a:bodyPr>
          <a:lstStyle/>
          <a:p>
            <a:r>
              <a:rPr lang="zh-CN" altLang="en-US"/>
              <a:t>干线运输、同城配送</a:t>
            </a:r>
          </a:p>
        </p:txBody>
      </p:sp>
      <p:graphicFrame>
        <p:nvGraphicFramePr>
          <p:cNvPr id="10" name="对象 9"/>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4122" r:id="rId4" imgW="1495425" imgH="4943475" progId="Paint.Picture">
                  <p:embed/>
                </p:oleObj>
              </mc:Choice>
              <mc:Fallback>
                <p:oleObj r:id="rId4" imgW="1495425" imgH="4943475" progId="Paint.Picture">
                  <p:embed/>
                  <p:pic>
                    <p:nvPicPr>
                      <p:cNvPr id="0" name="图片 17"/>
                      <p:cNvPicPr/>
                      <p:nvPr/>
                    </p:nvPicPr>
                    <p:blipFill>
                      <a:blip r:embed="rId5"/>
                    </p:blipFill>
                    <p:spPr>
                      <a:xfrm>
                        <a:off x="661670" y="1090930"/>
                        <a:ext cx="1496695" cy="4947285"/>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242379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p>
        </p:txBody>
      </p:sp>
      <p:sp>
        <p:nvSpPr>
          <p:cNvPr id="8" name="文本框 7"/>
          <p:cNvSpPr txBox="1"/>
          <p:nvPr/>
        </p:nvSpPr>
        <p:spPr>
          <a:xfrm>
            <a:off x="2404110" y="1330960"/>
            <a:ext cx="1991360" cy="396240"/>
          </a:xfrm>
          <a:prstGeom prst="rect">
            <a:avLst/>
          </a:prstGeom>
          <a:noFill/>
        </p:spPr>
        <p:txBody>
          <a:bodyPr wrap="square" rtlCol="0">
            <a:spAutoFit/>
          </a:bodyPr>
          <a:lstStyle/>
          <a:p>
            <a:pPr algn="l"/>
            <a:r>
              <a:rPr lang="zh-CN" altLang="en-US" sz="2000" b="1"/>
              <a:t>服务内容</a:t>
            </a:r>
          </a:p>
        </p:txBody>
      </p:sp>
      <p:graphicFrame>
        <p:nvGraphicFramePr>
          <p:cNvPr id="9" name="对象 8"/>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5146" r:id="rId4" imgW="1495425" imgH="4943475" progId="Paint.Picture">
                  <p:embed/>
                </p:oleObj>
              </mc:Choice>
              <mc:Fallback>
                <p:oleObj r:id="rId4" imgW="1495425" imgH="4943475" progId="Paint.Picture">
                  <p:embed/>
                  <p:pic>
                    <p:nvPicPr>
                      <p:cNvPr id="0" name="图片 17"/>
                      <p:cNvPicPr/>
                      <p:nvPr/>
                    </p:nvPicPr>
                    <p:blipFill>
                      <a:blip r:embed="rId5"/>
                    </p:blipFill>
                    <p:spPr>
                      <a:xfrm>
                        <a:off x="661670" y="1090930"/>
                        <a:ext cx="1496695" cy="4947285"/>
                      </a:xfrm>
                      <a:prstGeom prst="rect">
                        <a:avLst/>
                      </a:prstGeom>
                    </p:spPr>
                  </p:pic>
                </p:oleObj>
              </mc:Fallback>
            </mc:AlternateContent>
          </a:graphicData>
        </a:graphic>
      </p:graphicFrame>
      <p:pic>
        <p:nvPicPr>
          <p:cNvPr id="10" name="图片 9" descr="d"/>
          <p:cNvPicPr>
            <a:picLocks noChangeAspect="1"/>
          </p:cNvPicPr>
          <p:nvPr/>
        </p:nvPicPr>
        <p:blipFill>
          <a:blip r:embed="rId6"/>
          <a:stretch>
            <a:fillRect/>
          </a:stretch>
        </p:blipFill>
        <p:spPr>
          <a:xfrm>
            <a:off x="7680960" y="4518025"/>
            <a:ext cx="2651760" cy="1769745"/>
          </a:xfrm>
          <a:prstGeom prst="rect">
            <a:avLst/>
          </a:prstGeom>
        </p:spPr>
      </p:pic>
      <p:pic>
        <p:nvPicPr>
          <p:cNvPr id="11" name="图片 10" descr="a"/>
          <p:cNvPicPr>
            <a:picLocks noChangeAspect="1"/>
          </p:cNvPicPr>
          <p:nvPr/>
        </p:nvPicPr>
        <p:blipFill>
          <a:blip r:embed="rId7"/>
          <a:srcRect t="2036" b="2036"/>
          <a:stretch>
            <a:fillRect/>
          </a:stretch>
        </p:blipFill>
        <p:spPr>
          <a:xfrm>
            <a:off x="2874010" y="1965537"/>
            <a:ext cx="2662555" cy="1775037"/>
          </a:xfrm>
          <a:prstGeom prst="rect">
            <a:avLst/>
          </a:prstGeom>
        </p:spPr>
      </p:pic>
      <p:pic>
        <p:nvPicPr>
          <p:cNvPr id="12" name="图片 11" descr="b"/>
          <p:cNvPicPr>
            <a:picLocks noChangeAspect="1"/>
          </p:cNvPicPr>
          <p:nvPr/>
        </p:nvPicPr>
        <p:blipFill>
          <a:blip r:embed="rId8"/>
          <a:stretch>
            <a:fillRect/>
          </a:stretch>
        </p:blipFill>
        <p:spPr>
          <a:xfrm>
            <a:off x="7438390" y="1965325"/>
            <a:ext cx="3136265" cy="1667510"/>
          </a:xfrm>
          <a:prstGeom prst="rect">
            <a:avLst/>
          </a:prstGeom>
        </p:spPr>
      </p:pic>
      <p:pic>
        <p:nvPicPr>
          <p:cNvPr id="13" name="图片 12" descr="c"/>
          <p:cNvPicPr>
            <a:picLocks noChangeAspect="1"/>
          </p:cNvPicPr>
          <p:nvPr/>
        </p:nvPicPr>
        <p:blipFill>
          <a:blip r:embed="rId9"/>
          <a:stretch>
            <a:fillRect/>
          </a:stretch>
        </p:blipFill>
        <p:spPr>
          <a:xfrm>
            <a:off x="2816860" y="4364355"/>
            <a:ext cx="2681605" cy="1788160"/>
          </a:xfrm>
          <a:prstGeom prst="rect">
            <a:avLst/>
          </a:prstGeom>
        </p:spPr>
      </p:pic>
      <p:sp>
        <p:nvSpPr>
          <p:cNvPr id="21" name="文本框 20"/>
          <p:cNvSpPr txBox="1"/>
          <p:nvPr/>
        </p:nvSpPr>
        <p:spPr>
          <a:xfrm>
            <a:off x="3755390" y="3740150"/>
            <a:ext cx="640080" cy="365760"/>
          </a:xfrm>
          <a:prstGeom prst="rect">
            <a:avLst/>
          </a:prstGeom>
          <a:noFill/>
        </p:spPr>
        <p:txBody>
          <a:bodyPr wrap="none" rtlCol="0">
            <a:spAutoFit/>
          </a:bodyPr>
          <a:lstStyle/>
          <a:p>
            <a:r>
              <a:rPr lang="zh-CN" altLang="en-US"/>
              <a:t>仓储</a:t>
            </a:r>
          </a:p>
        </p:txBody>
      </p:sp>
      <p:sp>
        <p:nvSpPr>
          <p:cNvPr id="22" name="文本框 21"/>
          <p:cNvSpPr txBox="1"/>
          <p:nvPr/>
        </p:nvSpPr>
        <p:spPr>
          <a:xfrm>
            <a:off x="8542020" y="3740150"/>
            <a:ext cx="640080" cy="365760"/>
          </a:xfrm>
          <a:prstGeom prst="rect">
            <a:avLst/>
          </a:prstGeom>
          <a:noFill/>
        </p:spPr>
        <p:txBody>
          <a:bodyPr wrap="none" rtlCol="0">
            <a:spAutoFit/>
          </a:bodyPr>
          <a:lstStyle/>
          <a:p>
            <a:r>
              <a:rPr lang="zh-CN" altLang="en-US"/>
              <a:t>运输</a:t>
            </a:r>
          </a:p>
        </p:txBody>
      </p:sp>
      <p:sp>
        <p:nvSpPr>
          <p:cNvPr id="23" name="文本框 22"/>
          <p:cNvSpPr txBox="1"/>
          <p:nvPr/>
        </p:nvSpPr>
        <p:spPr>
          <a:xfrm>
            <a:off x="3630295" y="6152515"/>
            <a:ext cx="640080" cy="365760"/>
          </a:xfrm>
          <a:prstGeom prst="rect">
            <a:avLst/>
          </a:prstGeom>
          <a:noFill/>
        </p:spPr>
        <p:txBody>
          <a:bodyPr wrap="none" rtlCol="0">
            <a:spAutoFit/>
          </a:bodyPr>
          <a:lstStyle/>
          <a:p>
            <a:r>
              <a:rPr lang="zh-CN" altLang="en-US"/>
              <a:t>配送</a:t>
            </a:r>
          </a:p>
        </p:txBody>
      </p:sp>
      <p:sp>
        <p:nvSpPr>
          <p:cNvPr id="24" name="文本框 23"/>
          <p:cNvSpPr txBox="1"/>
          <p:nvPr/>
        </p:nvSpPr>
        <p:spPr>
          <a:xfrm>
            <a:off x="8756015" y="6287770"/>
            <a:ext cx="640080" cy="365760"/>
          </a:xfrm>
          <a:prstGeom prst="rect">
            <a:avLst/>
          </a:prstGeom>
          <a:noFill/>
        </p:spPr>
        <p:txBody>
          <a:bodyPr wrap="none" rtlCol="0">
            <a:spAutoFit/>
          </a:bodyPr>
          <a:lstStyle/>
          <a:p>
            <a:r>
              <a:rPr lang="zh-CN" altLang="en-US"/>
              <a:t>安装</a:t>
            </a:r>
          </a:p>
        </p:txBody>
      </p:sp>
      <p:sp>
        <p:nvSpPr>
          <p:cNvPr id="2" name="文本框 1"/>
          <p:cNvSpPr txBox="1"/>
          <p:nvPr/>
        </p:nvSpPr>
        <p:spPr>
          <a:xfrm>
            <a:off x="7547610" y="572770"/>
            <a:ext cx="3707765" cy="368300"/>
          </a:xfrm>
          <a:prstGeom prst="rect">
            <a:avLst/>
          </a:prstGeom>
          <a:noFill/>
        </p:spPr>
        <p:txBody>
          <a:bodyPr wrap="none" rtlCol="0">
            <a:spAutoFit/>
          </a:bodyPr>
          <a:lstStyle/>
          <a:p>
            <a:pPr algn="l"/>
            <a:r>
              <a:rPr lang="zh-CN" altLang="en-US">
                <a:hlinkClick r:id="rId10"/>
              </a:rPr>
              <a:t>http://www.rrs.com/wl/jjfa/hyjjfaxx/1</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228155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p>
        </p:txBody>
      </p:sp>
      <p:sp>
        <p:nvSpPr>
          <p:cNvPr id="8" name="文本框 7"/>
          <p:cNvSpPr txBox="1"/>
          <p:nvPr/>
        </p:nvSpPr>
        <p:spPr>
          <a:xfrm>
            <a:off x="2404110" y="1330960"/>
            <a:ext cx="1991360" cy="396240"/>
          </a:xfrm>
          <a:prstGeom prst="rect">
            <a:avLst/>
          </a:prstGeom>
          <a:noFill/>
        </p:spPr>
        <p:txBody>
          <a:bodyPr wrap="square" rtlCol="0">
            <a:spAutoFit/>
          </a:bodyPr>
          <a:lstStyle/>
          <a:p>
            <a:pPr algn="l"/>
            <a:r>
              <a:rPr lang="zh-CN" altLang="en-US" sz="2000" b="1"/>
              <a:t>典型客户</a:t>
            </a:r>
          </a:p>
        </p:txBody>
      </p:sp>
      <p:graphicFrame>
        <p:nvGraphicFramePr>
          <p:cNvPr id="9" name="对象 8"/>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6170" r:id="rId4" imgW="1495425" imgH="4943475" progId="Paint.Picture">
                  <p:embed/>
                </p:oleObj>
              </mc:Choice>
              <mc:Fallback>
                <p:oleObj r:id="rId4" imgW="1495425" imgH="4943475" progId="Paint.Picture">
                  <p:embed/>
                  <p:pic>
                    <p:nvPicPr>
                      <p:cNvPr id="0" name="图片 17"/>
                      <p:cNvPicPr/>
                      <p:nvPr/>
                    </p:nvPicPr>
                    <p:blipFill>
                      <a:blip r:embed="rId5"/>
                    </p:blipFill>
                    <p:spPr>
                      <a:xfrm>
                        <a:off x="661670" y="1090930"/>
                        <a:ext cx="1496695" cy="4947285"/>
                      </a:xfrm>
                      <a:prstGeom prst="rect">
                        <a:avLst/>
                      </a:prstGeom>
                    </p:spPr>
                  </p:pic>
                </p:oleObj>
              </mc:Fallback>
            </mc:AlternateContent>
          </a:graphicData>
        </a:graphic>
      </p:graphicFrame>
      <p:pic>
        <p:nvPicPr>
          <p:cNvPr id="25" name="图片 24"/>
          <p:cNvPicPr>
            <a:picLocks noChangeAspect="1"/>
          </p:cNvPicPr>
          <p:nvPr/>
        </p:nvPicPr>
        <p:blipFill>
          <a:blip r:embed="rId6"/>
          <a:stretch>
            <a:fillRect/>
          </a:stretch>
        </p:blipFill>
        <p:spPr>
          <a:xfrm>
            <a:off x="2367280" y="2819400"/>
            <a:ext cx="7457440" cy="1219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232092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p>
        </p:txBody>
      </p:sp>
      <p:sp>
        <p:nvSpPr>
          <p:cNvPr id="8" name="文本框 7"/>
          <p:cNvSpPr txBox="1"/>
          <p:nvPr/>
        </p:nvSpPr>
        <p:spPr>
          <a:xfrm>
            <a:off x="2404110" y="1330960"/>
            <a:ext cx="1991360" cy="396240"/>
          </a:xfrm>
          <a:prstGeom prst="rect">
            <a:avLst/>
          </a:prstGeom>
          <a:noFill/>
        </p:spPr>
        <p:txBody>
          <a:bodyPr wrap="square" rtlCol="0">
            <a:spAutoFit/>
          </a:bodyPr>
          <a:lstStyle/>
          <a:p>
            <a:pPr algn="l"/>
            <a:r>
              <a:rPr lang="zh-CN" altLang="en-US" sz="2000" b="1"/>
              <a:t>服务咨询</a:t>
            </a:r>
          </a:p>
        </p:txBody>
      </p:sp>
      <p:graphicFrame>
        <p:nvGraphicFramePr>
          <p:cNvPr id="9" name="对象 8"/>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7194" r:id="rId4" imgW="1495425" imgH="4943475" progId="Paint.Picture">
                  <p:embed/>
                </p:oleObj>
              </mc:Choice>
              <mc:Fallback>
                <p:oleObj r:id="rId4" imgW="1495425" imgH="4943475" progId="Paint.Picture">
                  <p:embed/>
                  <p:pic>
                    <p:nvPicPr>
                      <p:cNvPr id="0" name="图片 17"/>
                      <p:cNvPicPr/>
                      <p:nvPr/>
                    </p:nvPicPr>
                    <p:blipFill>
                      <a:blip r:embed="rId5"/>
                    </p:blipFill>
                    <p:spPr>
                      <a:xfrm>
                        <a:off x="661670" y="1090930"/>
                        <a:ext cx="1496695" cy="4947285"/>
                      </a:xfrm>
                      <a:prstGeom prst="rect">
                        <a:avLst/>
                      </a:prstGeom>
                    </p:spPr>
                  </p:pic>
                </p:oleObj>
              </mc:Fallback>
            </mc:AlternateContent>
          </a:graphicData>
        </a:graphic>
      </p:graphicFrame>
      <p:sp>
        <p:nvSpPr>
          <p:cNvPr id="2" name="文本框 1"/>
          <p:cNvSpPr txBox="1"/>
          <p:nvPr/>
        </p:nvSpPr>
        <p:spPr>
          <a:xfrm>
            <a:off x="2404110" y="1891665"/>
            <a:ext cx="4200525" cy="642620"/>
          </a:xfrm>
          <a:prstGeom prst="rect">
            <a:avLst/>
          </a:prstGeom>
          <a:noFill/>
        </p:spPr>
        <p:txBody>
          <a:bodyPr wrap="square" rtlCol="0" anchor="t">
            <a:spAutoFit/>
          </a:bodyPr>
          <a:lstStyle/>
          <a:p>
            <a:r>
              <a:rPr lang="zh-CN" altLang="en-US"/>
              <a:t>联系人: 王晓明  </a:t>
            </a:r>
          </a:p>
          <a:p>
            <a:r>
              <a:rPr lang="zh-CN" altLang="en-US"/>
              <a:t>联系电话： 0532-88939502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t="4932" b="20921"/>
          <a:stretch>
            <a:fillRect/>
          </a:stretch>
        </p:blipFill>
        <p:spPr>
          <a:xfrm>
            <a:off x="661670" y="322580"/>
            <a:ext cx="9533255" cy="868680"/>
          </a:xfrm>
          <a:prstGeom prst="rect">
            <a:avLst/>
          </a:prstGeom>
        </p:spPr>
      </p:pic>
      <p:sp>
        <p:nvSpPr>
          <p:cNvPr id="7" name="矩形 6"/>
          <p:cNvSpPr/>
          <p:nvPr/>
        </p:nvSpPr>
        <p:spPr>
          <a:xfrm>
            <a:off x="1845945" y="614045"/>
            <a:ext cx="6548755" cy="317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家居物流解决方案（</a:t>
            </a:r>
            <a:r>
              <a:rPr lang="zh-CN" altLang="en-US">
                <a:solidFill>
                  <a:srgbClr val="FF0000"/>
                </a:solidFill>
              </a:rPr>
              <a:t>注：下面的</a:t>
            </a:r>
            <a:r>
              <a:rPr lang="en-US" altLang="zh-CN">
                <a:solidFill>
                  <a:srgbClr val="FF0000"/>
                </a:solidFill>
              </a:rPr>
              <a:t>9</a:t>
            </a:r>
            <a:r>
              <a:rPr lang="zh-CN" altLang="en-US">
                <a:solidFill>
                  <a:srgbClr val="FF0000"/>
                </a:solidFill>
              </a:rPr>
              <a:t>个框框，需要配个样式</a:t>
            </a:r>
            <a:r>
              <a:rPr lang="zh-CN" altLang="en-US">
                <a:solidFill>
                  <a:schemeClr val="tx1"/>
                </a:solidFill>
              </a:rPr>
              <a:t>）</a:t>
            </a:r>
          </a:p>
        </p:txBody>
      </p:sp>
      <p:sp>
        <p:nvSpPr>
          <p:cNvPr id="8" name="文本框 7"/>
          <p:cNvSpPr txBox="1"/>
          <p:nvPr/>
        </p:nvSpPr>
        <p:spPr>
          <a:xfrm>
            <a:off x="2404110" y="1330960"/>
            <a:ext cx="1991360" cy="396240"/>
          </a:xfrm>
          <a:prstGeom prst="rect">
            <a:avLst/>
          </a:prstGeom>
          <a:noFill/>
        </p:spPr>
        <p:txBody>
          <a:bodyPr wrap="square" rtlCol="0">
            <a:spAutoFit/>
          </a:bodyPr>
          <a:lstStyle/>
          <a:p>
            <a:pPr algn="l"/>
            <a:r>
              <a:rPr lang="zh-CN" altLang="en-US" sz="2000" b="1"/>
              <a:t>更多方案</a:t>
            </a:r>
          </a:p>
        </p:txBody>
      </p:sp>
      <p:graphicFrame>
        <p:nvGraphicFramePr>
          <p:cNvPr id="9" name="对象 8"/>
          <p:cNvGraphicFramePr/>
          <p:nvPr/>
        </p:nvGraphicFramePr>
        <p:xfrm>
          <a:off x="661670" y="1090930"/>
          <a:ext cx="1496695" cy="4947285"/>
        </p:xfrm>
        <a:graphic>
          <a:graphicData uri="http://schemas.openxmlformats.org/presentationml/2006/ole">
            <mc:AlternateContent xmlns:mc="http://schemas.openxmlformats.org/markup-compatibility/2006">
              <mc:Choice xmlns:v="urn:schemas-microsoft-com:vml" Requires="v">
                <p:oleObj spid="_x0000_s8218" r:id="rId4" imgW="1495425" imgH="4943475" progId="Paint.Picture">
                  <p:embed/>
                </p:oleObj>
              </mc:Choice>
              <mc:Fallback>
                <p:oleObj r:id="rId4" imgW="1495425" imgH="4943475" progId="Paint.Picture">
                  <p:embed/>
                  <p:pic>
                    <p:nvPicPr>
                      <p:cNvPr id="0" name="图片 17"/>
                      <p:cNvPicPr/>
                      <p:nvPr/>
                    </p:nvPicPr>
                    <p:blipFill>
                      <a:blip r:embed="rId5"/>
                    </p:blipFill>
                    <p:spPr>
                      <a:xfrm>
                        <a:off x="661670" y="1090930"/>
                        <a:ext cx="1496695" cy="4947285"/>
                      </a:xfrm>
                      <a:prstGeom prst="rect">
                        <a:avLst/>
                      </a:prstGeom>
                    </p:spPr>
                  </p:pic>
                </p:oleObj>
              </mc:Fallback>
            </mc:AlternateContent>
          </a:graphicData>
        </a:graphic>
      </p:graphicFrame>
      <p:sp>
        <p:nvSpPr>
          <p:cNvPr id="17" name="矩形 16"/>
          <p:cNvSpPr/>
          <p:nvPr/>
        </p:nvSpPr>
        <p:spPr>
          <a:xfrm>
            <a:off x="2217420" y="1790065"/>
            <a:ext cx="9177655" cy="4309110"/>
          </a:xfrm>
          <a:prstGeom prst="rect">
            <a:avLst/>
          </a:prstGeom>
          <a:solidFill>
            <a:srgbClr val="ED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9" name="矩形 18"/>
          <p:cNvSpPr/>
          <p:nvPr/>
        </p:nvSpPr>
        <p:spPr>
          <a:xfrm>
            <a:off x="2505710" y="2077085"/>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tx1"/>
                </a:solidFill>
                <a:latin typeface="微软雅黑" panose="020B0503020204020204" charset="-122"/>
                <a:ea typeface="微软雅黑" panose="020B0503020204020204" charset="-122"/>
              </a:rPr>
              <a:t>家居物流解决方案</a:t>
            </a:r>
          </a:p>
        </p:txBody>
      </p:sp>
      <p:sp>
        <p:nvSpPr>
          <p:cNvPr id="20" name="矩形 19"/>
          <p:cNvSpPr/>
          <p:nvPr/>
        </p:nvSpPr>
        <p:spPr>
          <a:xfrm>
            <a:off x="5684520" y="2077085"/>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电商物流解决方案</a:t>
            </a:r>
          </a:p>
        </p:txBody>
      </p:sp>
      <p:sp>
        <p:nvSpPr>
          <p:cNvPr id="21" name="矩形 20"/>
          <p:cNvSpPr/>
          <p:nvPr/>
        </p:nvSpPr>
        <p:spPr>
          <a:xfrm>
            <a:off x="9017000" y="2077085"/>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家电物流解决方案</a:t>
            </a:r>
          </a:p>
        </p:txBody>
      </p:sp>
      <p:sp>
        <p:nvSpPr>
          <p:cNvPr id="22" name="矩形 21"/>
          <p:cNvSpPr/>
          <p:nvPr/>
        </p:nvSpPr>
        <p:spPr>
          <a:xfrm>
            <a:off x="2505710" y="3502660"/>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VMI物流解决方案</a:t>
            </a:r>
          </a:p>
        </p:txBody>
      </p:sp>
      <p:sp>
        <p:nvSpPr>
          <p:cNvPr id="23" name="矩形 22"/>
          <p:cNvSpPr/>
          <p:nvPr/>
        </p:nvSpPr>
        <p:spPr>
          <a:xfrm>
            <a:off x="5684520" y="3502660"/>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快消品物流解决方案</a:t>
            </a:r>
          </a:p>
        </p:txBody>
      </p:sp>
      <p:sp>
        <p:nvSpPr>
          <p:cNvPr id="24" name="矩形 23"/>
          <p:cNvSpPr/>
          <p:nvPr/>
        </p:nvSpPr>
        <p:spPr>
          <a:xfrm>
            <a:off x="9017000" y="3502660"/>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冷链物流解决方案</a:t>
            </a:r>
          </a:p>
        </p:txBody>
      </p:sp>
      <p:sp>
        <p:nvSpPr>
          <p:cNvPr id="25" name="矩形 24"/>
          <p:cNvSpPr/>
          <p:nvPr/>
        </p:nvSpPr>
        <p:spPr>
          <a:xfrm>
            <a:off x="2505710" y="4983480"/>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3C电子物流解决方案</a:t>
            </a:r>
          </a:p>
        </p:txBody>
      </p:sp>
      <p:sp>
        <p:nvSpPr>
          <p:cNvPr id="26" name="矩形 25"/>
          <p:cNvSpPr/>
          <p:nvPr/>
        </p:nvSpPr>
        <p:spPr>
          <a:xfrm>
            <a:off x="5684520" y="4983480"/>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零担物流解决方案</a:t>
            </a:r>
          </a:p>
        </p:txBody>
      </p:sp>
      <p:sp>
        <p:nvSpPr>
          <p:cNvPr id="27" name="矩形 26"/>
          <p:cNvSpPr/>
          <p:nvPr/>
        </p:nvSpPr>
        <p:spPr>
          <a:xfrm>
            <a:off x="9017000" y="4983480"/>
            <a:ext cx="2098040" cy="871220"/>
          </a:xfrm>
          <a:prstGeom prst="rect">
            <a:avLst/>
          </a:prstGeom>
          <a:solidFill>
            <a:srgbClr val="FFFFFF"/>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000" b="1">
                <a:solidFill>
                  <a:schemeClr val="tx1"/>
                </a:solidFill>
                <a:latin typeface="微软雅黑" panose="020B0503020204020204" charset="-122"/>
                <a:ea typeface="微软雅黑" panose="020B0503020204020204" charset="-122"/>
                <a:sym typeface="+mn-ea"/>
              </a:rPr>
              <a:t>国际货代物流解决方案</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1175</Words>
  <Application>Microsoft Office PowerPoint</Application>
  <PresentationFormat>宽屏</PresentationFormat>
  <Paragraphs>169</Paragraphs>
  <Slides>19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27" baseType="lpstr">
      <vt:lpstr>宋体</vt:lpstr>
      <vt:lpstr>微软雅黑</vt:lpstr>
      <vt:lpstr>Arial</vt:lpstr>
      <vt:lpstr>Calibri</vt:lpstr>
      <vt:lpstr>Calibri Light</vt:lpstr>
      <vt:lpstr>Wingdings</vt:lpstr>
      <vt:lpstr>Office 主题</vt:lpstr>
      <vt:lpstr>Bitmap Image</vt:lpstr>
      <vt:lpstr>设计流程概述</vt:lpstr>
      <vt:lpstr>PowerPoint 演示文稿</vt:lpstr>
      <vt:lpstr>以下是平台能力构思</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以下是解决方案构思</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以下是平台能力</dc:title>
  <dc:creator/>
  <cp:lastModifiedBy>fy</cp:lastModifiedBy>
  <cp:revision>234</cp:revision>
  <dcterms:created xsi:type="dcterms:W3CDTF">2015-05-05T08:02:00Z</dcterms:created>
  <dcterms:modified xsi:type="dcterms:W3CDTF">2016-07-18T06:41:40Z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2052-10.1.0.5850</vt:lpwstr>
  </property>
</Properties>
</file>